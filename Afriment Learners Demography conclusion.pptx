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8" r:id="rId3"/>
    <p:sldId id="259" r:id="rId4"/>
    <p:sldId id="262" r:id="rId5"/>
    <p:sldId id="266" r:id="rId6"/>
    <p:sldId id="267" r:id="rId7"/>
    <p:sldId id="264" r:id="rId8"/>
    <p:sldId id="260" r:id="rId9"/>
    <p:sldId id="268" r:id="rId10"/>
    <p:sldId id="265" r:id="rId11"/>
    <p:sldId id="261" r:id="rId12"/>
  </p:sldIdLst>
  <p:sldSz cx="18288000" cy="10287000"/>
  <p:notesSz cx="6858000" cy="9144000"/>
  <p:embeddedFontLst>
    <p:embeddedFont>
      <p:font typeface="Arial Rounded MT Bold" panose="020F0704030504030204" pitchFamily="34" charset="0"/>
      <p:regular r:id="rId14"/>
    </p:embeddedFont>
    <p:embeddedFont>
      <p:font typeface="Calibri" panose="020F0502020204030204" pitchFamily="34" charset="0"/>
      <p:regular r:id="rId15"/>
      <p:bold r:id="rId16"/>
      <p:italic r:id="rId17"/>
      <p:boldItalic r:id="rId18"/>
    </p:embeddedFont>
    <p:embeddedFont>
      <p:font typeface="Cambria Math" panose="02040503050406030204" pitchFamily="18" charset="0"/>
      <p:regular r:id="rId19"/>
    </p:embeddedFont>
    <p:embeddedFont>
      <p:font typeface="Candara" panose="020E0502030303020204" pitchFamily="34" charset="0"/>
      <p:regular r:id="rId20"/>
      <p:bold r:id="rId21"/>
      <p:italic r:id="rId22"/>
      <p:boldItalic r:id="rId23"/>
    </p:embeddedFont>
    <p:embeddedFont>
      <p:font typeface="Microsoft PhagsPa" panose="020B0502040204020203" pitchFamily="34" charset="0"/>
      <p:regular r:id="rId24"/>
      <p:bold r:id="rId25"/>
    </p:embeddedFont>
    <p:embeddedFont>
      <p:font typeface="Microsoft YaHei" panose="020B0503020204020204" pitchFamily="34" charset="-122"/>
      <p:regular r:id="rId26"/>
      <p:bold r:id="rId27"/>
    </p:embeddedFont>
    <p:embeddedFont>
      <p:font typeface="TT Interphases" panose="02000503020000020004"/>
      <p:regular r:id="rId28"/>
    </p:embeddedFont>
    <p:embeddedFont>
      <p:font typeface="TT Interphases Bold" panose="02000803060000020004"/>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DFE0"/>
    <a:srgbClr val="111111"/>
    <a:srgbClr val="5F5F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3" autoAdjust="0"/>
    <p:restoredTop sz="84994" autoAdjust="0"/>
  </p:normalViewPr>
  <p:slideViewPr>
    <p:cSldViewPr>
      <p:cViewPr varScale="1">
        <p:scale>
          <a:sx n="51" d="100"/>
          <a:sy n="51" d="100"/>
        </p:scale>
        <p:origin x="92" y="10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notesMaster" Target="notesMasters/notesMaster1.xml" /><Relationship Id="rId18" Type="http://schemas.openxmlformats.org/officeDocument/2006/relationships/font" Target="fonts/font5.fntdata" /><Relationship Id="rId26" Type="http://schemas.openxmlformats.org/officeDocument/2006/relationships/font" Target="fonts/font13.fntdata" /><Relationship Id="rId3" Type="http://schemas.openxmlformats.org/officeDocument/2006/relationships/slide" Target="slides/slide2.xml" /><Relationship Id="rId21" Type="http://schemas.openxmlformats.org/officeDocument/2006/relationships/font" Target="fonts/font8.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font" Target="fonts/font4.fntdata" /><Relationship Id="rId25" Type="http://schemas.openxmlformats.org/officeDocument/2006/relationships/font" Target="fonts/font12.fntdata"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font" Target="fonts/font3.fntdata" /><Relationship Id="rId20" Type="http://schemas.openxmlformats.org/officeDocument/2006/relationships/font" Target="fonts/font7.fntdata" /><Relationship Id="rId29" Type="http://schemas.openxmlformats.org/officeDocument/2006/relationships/font" Target="fonts/font16.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11.fntdata"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font" Target="fonts/font2.fntdata" /><Relationship Id="rId23" Type="http://schemas.openxmlformats.org/officeDocument/2006/relationships/font" Target="fonts/font10.fntdata" /><Relationship Id="rId28" Type="http://schemas.openxmlformats.org/officeDocument/2006/relationships/font" Target="fonts/font15.fntdata" /><Relationship Id="rId10" Type="http://schemas.openxmlformats.org/officeDocument/2006/relationships/slide" Target="slides/slide9.xml" /><Relationship Id="rId19" Type="http://schemas.openxmlformats.org/officeDocument/2006/relationships/font" Target="fonts/font6.fntdata"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font" Target="fonts/font1.fntdata" /><Relationship Id="rId22" Type="http://schemas.openxmlformats.org/officeDocument/2006/relationships/font" Target="fonts/font9.fntdata" /><Relationship Id="rId27" Type="http://schemas.openxmlformats.org/officeDocument/2006/relationships/font" Target="fonts/font14.fntdata" /><Relationship Id="rId30"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25F8C4-3EEB-4C3E-A69A-59F09E13021F}" type="datetimeFigureOut">
              <a:rPr lang="en-US" smtClean="0"/>
              <a:t>8/7/2026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A6995-38C7-4E74-AFED-3F39DADBF4E8}" type="slidenum">
              <a:rPr lang="en-US" smtClean="0"/>
              <a:t>‹#›</a:t>
            </a:fld>
            <a:endParaRPr lang="en-US"/>
          </a:p>
        </p:txBody>
      </p:sp>
    </p:spTree>
    <p:extLst>
      <p:ext uri="{BB962C8B-B14F-4D97-AF65-F5344CB8AC3E}">
        <p14:creationId xmlns:p14="http://schemas.microsoft.com/office/powerpoint/2010/main" val="805640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A6995-38C7-4E74-AFED-3F39DADBF4E8}" type="slidenum">
              <a:rPr lang="en-US" smtClean="0"/>
              <a:t>1</a:t>
            </a:fld>
            <a:endParaRPr lang="en-US"/>
          </a:p>
        </p:txBody>
      </p:sp>
    </p:spTree>
    <p:extLst>
      <p:ext uri="{BB962C8B-B14F-4D97-AF65-F5344CB8AC3E}">
        <p14:creationId xmlns:p14="http://schemas.microsoft.com/office/powerpoint/2010/main" val="23096449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A6995-38C7-4E74-AFED-3F39DADBF4E8}" type="slidenum">
              <a:rPr lang="en-US" smtClean="0"/>
              <a:t>2</a:t>
            </a:fld>
            <a:endParaRPr lang="en-US"/>
          </a:p>
        </p:txBody>
      </p:sp>
    </p:spTree>
    <p:extLst>
      <p:ext uri="{BB962C8B-B14F-4D97-AF65-F5344CB8AC3E}">
        <p14:creationId xmlns:p14="http://schemas.microsoft.com/office/powerpoint/2010/main" val="2228745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0EA6995-38C7-4E74-AFED-3F39DADBF4E8}" type="slidenum">
              <a:rPr lang="en-US" smtClean="0"/>
              <a:t>11</a:t>
            </a:fld>
            <a:endParaRPr lang="en-US"/>
          </a:p>
        </p:txBody>
      </p:sp>
    </p:spTree>
    <p:extLst>
      <p:ext uri="{BB962C8B-B14F-4D97-AF65-F5344CB8AC3E}">
        <p14:creationId xmlns:p14="http://schemas.microsoft.com/office/powerpoint/2010/main" val="53991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 /><Relationship Id="rId2" Type="http://schemas.openxmlformats.org/officeDocument/2006/relationships/notesSlide" Target="../notesSlides/notesSlide1.xml" /><Relationship Id="rId1" Type="http://schemas.openxmlformats.org/officeDocument/2006/relationships/slideLayout" Target="../slideLayouts/slideLayout7.xml" /><Relationship Id="rId5" Type="http://schemas.openxmlformats.org/officeDocument/2006/relationships/image" Target="../media/image3.png" /><Relationship Id="rId4" Type="http://schemas.openxmlformats.org/officeDocument/2006/relationships/image" Target="../media/image2.jpeg"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5.jpeg" /><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hyperlink" Target="https://datastudio.google.com/s/pJj4EU4rybE" TargetMode="External"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image" Target="../media/image9.jpe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jpeg" /><Relationship Id="rId1" Type="http://schemas.openxmlformats.org/officeDocument/2006/relationships/slideLayout" Target="../slideLayouts/slideLayout7.xml" /><Relationship Id="rId5" Type="http://schemas.openxmlformats.org/officeDocument/2006/relationships/image" Target="../media/image13.jpeg" /><Relationship Id="rId4" Type="http://schemas.microsoft.com/office/2007/relationships/hdphoto" Target="../media/hdphoto2.wdp"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rot="-5400000">
            <a:off x="15723577" y="8327995"/>
            <a:ext cx="3006830" cy="3006830"/>
          </a:xfrm>
          <a:custGeom>
            <a:avLst/>
            <a:gdLst/>
            <a:ahLst/>
            <a:cxnLst/>
            <a:rect l="l" t="t" r="r" b="b"/>
            <a:pathLst>
              <a:path w="3006830" h="3006830">
                <a:moveTo>
                  <a:pt x="0" y="0"/>
                </a:moveTo>
                <a:lnTo>
                  <a:pt x="3006831" y="0"/>
                </a:lnTo>
                <a:lnTo>
                  <a:pt x="3006831" y="3006831"/>
                </a:lnTo>
                <a:lnTo>
                  <a:pt x="0" y="300683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0" y="0"/>
            <a:ext cx="9338990" cy="10287000"/>
            <a:chOff x="0" y="0"/>
            <a:chExt cx="1029739" cy="1134269"/>
          </a:xfrm>
        </p:grpSpPr>
        <p:sp>
          <p:nvSpPr>
            <p:cNvPr id="4" name="Freeform 4"/>
            <p:cNvSpPr/>
            <p:nvPr/>
          </p:nvSpPr>
          <p:spPr>
            <a:xfrm>
              <a:off x="0" y="0"/>
              <a:ext cx="1029739" cy="1134269"/>
            </a:xfrm>
            <a:custGeom>
              <a:avLst/>
              <a:gdLst/>
              <a:ahLst/>
              <a:cxnLst/>
              <a:rect l="l" t="t" r="r" b="b"/>
              <a:pathLst>
                <a:path w="1029739" h="1134269">
                  <a:moveTo>
                    <a:pt x="0" y="0"/>
                  </a:moveTo>
                  <a:lnTo>
                    <a:pt x="1029739" y="0"/>
                  </a:lnTo>
                  <a:lnTo>
                    <a:pt x="1029739" y="1134269"/>
                  </a:lnTo>
                  <a:lnTo>
                    <a:pt x="0" y="1134269"/>
                  </a:lnTo>
                  <a:close/>
                </a:path>
              </a:pathLst>
            </a:custGeom>
            <a:blipFill>
              <a:blip r:embed="rId4"/>
              <a:stretch>
                <a:fillRect l="-7077" r="-7077" b="-3635"/>
              </a:stretch>
            </a:blipFill>
          </p:spPr>
        </p:sp>
      </p:grpSp>
      <p:sp>
        <p:nvSpPr>
          <p:cNvPr id="5" name="Freeform 5"/>
          <p:cNvSpPr/>
          <p:nvPr/>
        </p:nvSpPr>
        <p:spPr>
          <a:xfrm rot="-5400000">
            <a:off x="-442408" y="-1047826"/>
            <a:ext cx="3006830" cy="3006830"/>
          </a:xfrm>
          <a:custGeom>
            <a:avLst/>
            <a:gdLst/>
            <a:ahLst/>
            <a:cxnLst/>
            <a:rect l="l" t="t" r="r" b="b"/>
            <a:pathLst>
              <a:path w="3006830" h="3006830">
                <a:moveTo>
                  <a:pt x="0" y="0"/>
                </a:moveTo>
                <a:lnTo>
                  <a:pt x="3006831" y="0"/>
                </a:lnTo>
                <a:lnTo>
                  <a:pt x="3006831" y="3006831"/>
                </a:lnTo>
                <a:lnTo>
                  <a:pt x="0" y="3006831"/>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2096236" y="0"/>
            <a:ext cx="7254400" cy="10287000"/>
            <a:chOff x="0" y="0"/>
            <a:chExt cx="1492675" cy="2155582"/>
          </a:xfrm>
        </p:grpSpPr>
        <p:sp>
          <p:nvSpPr>
            <p:cNvPr id="7" name="Freeform 7"/>
            <p:cNvSpPr/>
            <p:nvPr/>
          </p:nvSpPr>
          <p:spPr>
            <a:xfrm>
              <a:off x="0" y="0"/>
              <a:ext cx="1492675" cy="2155582"/>
            </a:xfrm>
            <a:custGeom>
              <a:avLst/>
              <a:gdLst/>
              <a:ahLst/>
              <a:cxnLst/>
              <a:rect l="l" t="t" r="r" b="b"/>
              <a:pathLst>
                <a:path w="1492675" h="2155582">
                  <a:moveTo>
                    <a:pt x="0" y="0"/>
                  </a:moveTo>
                  <a:lnTo>
                    <a:pt x="1492675" y="0"/>
                  </a:lnTo>
                  <a:lnTo>
                    <a:pt x="1492675" y="2155582"/>
                  </a:lnTo>
                  <a:lnTo>
                    <a:pt x="0" y="2155582"/>
                  </a:lnTo>
                  <a:close/>
                </a:path>
              </a:pathLst>
            </a:custGeom>
            <a:gradFill rotWithShape="1">
              <a:gsLst>
                <a:gs pos="0">
                  <a:srgbClr val="000000">
                    <a:alpha val="0"/>
                  </a:srgbClr>
                </a:gs>
                <a:gs pos="100000">
                  <a:srgbClr val="000000">
                    <a:alpha val="100000"/>
                  </a:srgbClr>
                </a:gs>
              </a:gsLst>
              <a:lin ang="0"/>
            </a:gradFill>
          </p:spPr>
        </p:sp>
        <p:sp>
          <p:nvSpPr>
            <p:cNvPr id="8" name="TextBox 8"/>
            <p:cNvSpPr txBox="1"/>
            <p:nvPr/>
          </p:nvSpPr>
          <p:spPr>
            <a:xfrm>
              <a:off x="0" y="-47625"/>
              <a:ext cx="1492675" cy="2203207"/>
            </a:xfrm>
            <a:prstGeom prst="rect">
              <a:avLst/>
            </a:prstGeom>
          </p:spPr>
          <p:txBody>
            <a:bodyPr lIns="50800" tIns="50800" rIns="50800" bIns="50800" rtlCol="0" anchor="ctr"/>
            <a:lstStyle/>
            <a:p>
              <a:pPr algn="ctr">
                <a:lnSpc>
                  <a:spcPts val="2800"/>
                </a:lnSpc>
              </a:pPr>
              <a:endParaRPr/>
            </a:p>
          </p:txBody>
        </p:sp>
      </p:grpSp>
      <p:sp>
        <p:nvSpPr>
          <p:cNvPr id="9" name="Freeform 9"/>
          <p:cNvSpPr/>
          <p:nvPr/>
        </p:nvSpPr>
        <p:spPr>
          <a:xfrm>
            <a:off x="-3803725" y="4751980"/>
            <a:ext cx="8911125" cy="10361774"/>
          </a:xfrm>
          <a:custGeom>
            <a:avLst/>
            <a:gdLst/>
            <a:ahLst/>
            <a:cxnLst/>
            <a:rect l="l" t="t" r="r" b="b"/>
            <a:pathLst>
              <a:path w="8911125" h="10361774">
                <a:moveTo>
                  <a:pt x="0" y="0"/>
                </a:moveTo>
                <a:lnTo>
                  <a:pt x="8911125" y="0"/>
                </a:lnTo>
                <a:lnTo>
                  <a:pt x="8911125" y="10361774"/>
                </a:lnTo>
                <a:lnTo>
                  <a:pt x="0" y="10361774"/>
                </a:lnTo>
                <a:lnTo>
                  <a:pt x="0" y="0"/>
                </a:lnTo>
                <a:close/>
              </a:path>
            </a:pathLst>
          </a:custGeom>
          <a:blipFill>
            <a:blip r:embed="rId5">
              <a:alphaModFix amt="40000"/>
            </a:blip>
            <a:stretch>
              <a:fillRect/>
            </a:stretch>
          </a:blipFill>
        </p:spPr>
      </p:sp>
      <p:sp>
        <p:nvSpPr>
          <p:cNvPr id="10" name="Freeform 10"/>
          <p:cNvSpPr/>
          <p:nvPr/>
        </p:nvSpPr>
        <p:spPr>
          <a:xfrm flipH="1" flipV="1">
            <a:off x="12496800" y="-4074271"/>
            <a:ext cx="8911125" cy="10361774"/>
          </a:xfrm>
          <a:custGeom>
            <a:avLst/>
            <a:gdLst/>
            <a:ahLst/>
            <a:cxnLst/>
            <a:rect l="l" t="t" r="r" b="b"/>
            <a:pathLst>
              <a:path w="8911125" h="10361774">
                <a:moveTo>
                  <a:pt x="8911125" y="10361773"/>
                </a:moveTo>
                <a:lnTo>
                  <a:pt x="0" y="10361773"/>
                </a:lnTo>
                <a:lnTo>
                  <a:pt x="0" y="0"/>
                </a:lnTo>
                <a:lnTo>
                  <a:pt x="8911125" y="0"/>
                </a:lnTo>
                <a:lnTo>
                  <a:pt x="8911125" y="10361773"/>
                </a:lnTo>
                <a:close/>
              </a:path>
            </a:pathLst>
          </a:custGeom>
          <a:blipFill>
            <a:blip r:embed="rId5">
              <a:alphaModFix amt="40000"/>
            </a:blip>
            <a:stretch>
              <a:fillRect/>
            </a:stretch>
          </a:blipFill>
        </p:spPr>
      </p:sp>
      <p:grpSp>
        <p:nvGrpSpPr>
          <p:cNvPr id="11" name="Group 11"/>
          <p:cNvGrpSpPr/>
          <p:nvPr/>
        </p:nvGrpSpPr>
        <p:grpSpPr>
          <a:xfrm>
            <a:off x="13060781" y="9470663"/>
            <a:ext cx="4008019" cy="802227"/>
            <a:chOff x="0" y="0"/>
            <a:chExt cx="2407436" cy="406400"/>
          </a:xfrm>
        </p:grpSpPr>
        <p:sp>
          <p:nvSpPr>
            <p:cNvPr id="12" name="Freeform 12"/>
            <p:cNvSpPr/>
            <p:nvPr/>
          </p:nvSpPr>
          <p:spPr>
            <a:xfrm>
              <a:off x="0" y="0"/>
              <a:ext cx="2407436" cy="406400"/>
            </a:xfrm>
            <a:custGeom>
              <a:avLst/>
              <a:gdLst/>
              <a:ahLst/>
              <a:cxnLst/>
              <a:rect l="l" t="t" r="r" b="b"/>
              <a:pathLst>
                <a:path w="2407436" h="406400">
                  <a:moveTo>
                    <a:pt x="2204236" y="0"/>
                  </a:moveTo>
                  <a:cubicBezTo>
                    <a:pt x="2316461" y="0"/>
                    <a:pt x="2407436" y="90976"/>
                    <a:pt x="2407436" y="203200"/>
                  </a:cubicBezTo>
                  <a:cubicBezTo>
                    <a:pt x="2407436" y="315424"/>
                    <a:pt x="2316461" y="406400"/>
                    <a:pt x="2204236" y="406400"/>
                  </a:cubicBezTo>
                  <a:lnTo>
                    <a:pt x="203200" y="406400"/>
                  </a:lnTo>
                  <a:cubicBezTo>
                    <a:pt x="90976" y="406400"/>
                    <a:pt x="0" y="315424"/>
                    <a:pt x="0" y="203200"/>
                  </a:cubicBezTo>
                  <a:cubicBezTo>
                    <a:pt x="0" y="90976"/>
                    <a:pt x="90976" y="0"/>
                    <a:pt x="203200" y="0"/>
                  </a:cubicBezTo>
                  <a:close/>
                </a:path>
              </a:pathLst>
            </a:custGeom>
            <a:gradFill rotWithShape="1">
              <a:gsLst>
                <a:gs pos="0">
                  <a:srgbClr val="000000">
                    <a:alpha val="100000"/>
                  </a:srgbClr>
                </a:gs>
                <a:gs pos="100000">
                  <a:srgbClr val="004AAD">
                    <a:alpha val="100000"/>
                  </a:srgbClr>
                </a:gs>
              </a:gsLst>
              <a:lin ang="0"/>
            </a:gradFill>
          </p:spPr>
        </p:sp>
        <p:sp>
          <p:nvSpPr>
            <p:cNvPr id="13" name="TextBox 13"/>
            <p:cNvSpPr txBox="1"/>
            <p:nvPr/>
          </p:nvSpPr>
          <p:spPr>
            <a:xfrm>
              <a:off x="0" y="-47625"/>
              <a:ext cx="2407436" cy="454025"/>
            </a:xfrm>
            <a:prstGeom prst="rect">
              <a:avLst/>
            </a:prstGeom>
          </p:spPr>
          <p:txBody>
            <a:bodyPr lIns="50800" tIns="50800" rIns="50800" bIns="50800" rtlCol="0" anchor="ctr"/>
            <a:lstStyle/>
            <a:p>
              <a:pPr algn="ctr">
                <a:lnSpc>
                  <a:spcPts val="2800"/>
                </a:lnSpc>
              </a:pPr>
              <a:endParaRPr/>
            </a:p>
          </p:txBody>
        </p:sp>
      </p:grpSp>
      <p:sp>
        <p:nvSpPr>
          <p:cNvPr id="21" name="TextBox 21"/>
          <p:cNvSpPr txBox="1"/>
          <p:nvPr/>
        </p:nvSpPr>
        <p:spPr>
          <a:xfrm>
            <a:off x="10665671" y="2714826"/>
            <a:ext cx="6558991" cy="2977738"/>
          </a:xfrm>
          <a:prstGeom prst="rect">
            <a:avLst/>
          </a:prstGeom>
        </p:spPr>
        <p:txBody>
          <a:bodyPr wrap="square" lIns="0" tIns="0" rIns="0" bIns="0" rtlCol="0" anchor="t">
            <a:spAutoFit/>
          </a:bodyPr>
          <a:lstStyle/>
          <a:p>
            <a:pPr marL="0" lvl="0" indent="0" algn="r">
              <a:lnSpc>
                <a:spcPts val="25199"/>
              </a:lnSpc>
              <a:spcBef>
                <a:spcPct val="0"/>
              </a:spcBef>
            </a:pPr>
            <a:r>
              <a:rPr lang="en-US" sz="18000" b="1" dirty="0">
                <a:solidFill>
                  <a:srgbClr val="004AAD"/>
                </a:solidFill>
                <a:latin typeface="TT Interphases Bold"/>
                <a:ea typeface="TT Interphases Bold"/>
                <a:cs typeface="TT Interphases Bold"/>
                <a:sym typeface="TT Interphases Bold"/>
              </a:rPr>
              <a:t>Pod B</a:t>
            </a:r>
          </a:p>
        </p:txBody>
      </p:sp>
      <p:sp>
        <p:nvSpPr>
          <p:cNvPr id="22" name="TextBox 22"/>
          <p:cNvSpPr txBox="1"/>
          <p:nvPr/>
        </p:nvSpPr>
        <p:spPr>
          <a:xfrm>
            <a:off x="7849726" y="5800338"/>
            <a:ext cx="10422110" cy="1465722"/>
          </a:xfrm>
          <a:prstGeom prst="rect">
            <a:avLst/>
          </a:prstGeom>
        </p:spPr>
        <p:txBody>
          <a:bodyPr wrap="square" lIns="0" tIns="0" rIns="0" bIns="0" rtlCol="0" anchor="t">
            <a:spAutoFit/>
          </a:bodyPr>
          <a:lstStyle/>
          <a:p>
            <a:pPr marL="0" lvl="0" indent="0" algn="ctr">
              <a:lnSpc>
                <a:spcPts val="12421"/>
              </a:lnSpc>
              <a:spcBef>
                <a:spcPct val="0"/>
              </a:spcBef>
            </a:pPr>
            <a:r>
              <a:rPr lang="en-US" sz="8872" b="1" dirty="0">
                <a:solidFill>
                  <a:srgbClr val="FFFFFF"/>
                </a:solidFill>
                <a:latin typeface="TT Interphases"/>
                <a:ea typeface="TT Interphases"/>
                <a:cs typeface="TT Interphases"/>
                <a:sym typeface="TT Interphases"/>
              </a:rPr>
              <a:t>LEARNER INSIGHTS </a:t>
            </a:r>
          </a:p>
        </p:txBody>
      </p:sp>
      <p:sp>
        <p:nvSpPr>
          <p:cNvPr id="23" name="TextBox 23"/>
          <p:cNvSpPr txBox="1"/>
          <p:nvPr/>
        </p:nvSpPr>
        <p:spPr>
          <a:xfrm>
            <a:off x="13309801" y="9629119"/>
            <a:ext cx="4119577" cy="473064"/>
          </a:xfrm>
          <a:prstGeom prst="rect">
            <a:avLst/>
          </a:prstGeom>
        </p:spPr>
        <p:txBody>
          <a:bodyPr lIns="0" tIns="0" rIns="0" bIns="0" rtlCol="0" anchor="t">
            <a:spAutoFit/>
          </a:bodyPr>
          <a:lstStyle/>
          <a:p>
            <a:pPr marL="0" lvl="0" indent="0" algn="l">
              <a:lnSpc>
                <a:spcPts val="3850"/>
              </a:lnSpc>
              <a:spcBef>
                <a:spcPct val="0"/>
              </a:spcBef>
            </a:pPr>
            <a:r>
              <a:rPr lang="en-US" sz="2750" b="1" dirty="0">
                <a:solidFill>
                  <a:srgbClr val="FFFFFF"/>
                </a:solidFill>
                <a:latin typeface="TT Interphases Bold"/>
                <a:ea typeface="TT Interphases Bold"/>
                <a:cs typeface="TT Interphases Bold"/>
                <a:sym typeface="TT Interphases Bold"/>
              </a:rPr>
              <a:t>PREPARED BY POD B</a:t>
            </a:r>
          </a:p>
        </p:txBody>
      </p:sp>
    </p:spTree>
  </p:cSld>
  <p:clrMapOvr>
    <a:masterClrMapping/>
  </p:clrMapOvr>
  <mc:AlternateContent xmlns:mc="http://schemas.openxmlformats.org/markup-compatibility/2006" xmlns:p14="http://schemas.microsoft.com/office/powerpoint/2010/main">
    <mc:Choice Requires="p14">
      <p:transition spd="slow" p14:dur="6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3953839"/>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bg2">
              <a:lumMod val="25000"/>
            </a:schemeClr>
          </a:solidFill>
          <a:scene3d>
            <a:camera prst="orthographicFront"/>
            <a:lightRig rig="threePt" dir="t"/>
          </a:scene3d>
          <a:sp3d>
            <a:bevelT w="101600" prst="riblet"/>
          </a:sp3d>
        </p:spPr>
        <p:txBody>
          <a:bodyPr/>
          <a:lstStyle/>
          <a:p>
            <a:endParaRPr lang="en-US" dirty="0"/>
          </a:p>
        </p:txBody>
      </p:sp>
      <p:sp>
        <p:nvSpPr>
          <p:cNvPr id="29" name="TextBox 29"/>
          <p:cNvSpPr txBox="1"/>
          <p:nvPr/>
        </p:nvSpPr>
        <p:spPr>
          <a:xfrm>
            <a:off x="15397619" y="9958210"/>
            <a:ext cx="2661781" cy="282129"/>
          </a:xfrm>
          <a:prstGeom prst="rect">
            <a:avLst/>
          </a:prstGeom>
        </p:spPr>
        <p:txBody>
          <a:bodyPr wrap="square" lIns="0" tIns="0" rIns="0" bIns="0" rtlCol="0" anchor="t">
            <a:spAutoFit/>
          </a:bodyPr>
          <a:lstStyle/>
          <a:p>
            <a:pPr marL="0" lvl="0" indent="0" algn="l">
              <a:lnSpc>
                <a:spcPts val="2240"/>
              </a:lnSpc>
              <a:spcBef>
                <a:spcPct val="0"/>
              </a:spcBef>
            </a:pPr>
            <a:r>
              <a:rPr lang="en-US" sz="2000" b="1" dirty="0">
                <a:solidFill>
                  <a:srgbClr val="FFFFFF"/>
                </a:solidFill>
                <a:latin typeface="TT Interphases"/>
                <a:ea typeface="TT Interphases"/>
                <a:cs typeface="TT Interphases"/>
                <a:sym typeface="TT Interphases"/>
              </a:rPr>
              <a:t>PREPARED BY POD B</a:t>
            </a:r>
          </a:p>
        </p:txBody>
      </p:sp>
      <p:sp>
        <p:nvSpPr>
          <p:cNvPr id="30" name="TextBox 30"/>
          <p:cNvSpPr txBox="1"/>
          <p:nvPr/>
        </p:nvSpPr>
        <p:spPr>
          <a:xfrm>
            <a:off x="152400" y="274568"/>
            <a:ext cx="6561221" cy="2564885"/>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t">
            <a:spAutoFit/>
          </a:bodyPr>
          <a:lstStyle/>
          <a:p>
            <a:pPr marL="0" lvl="0" indent="0" algn="ctr">
              <a:lnSpc>
                <a:spcPts val="11200"/>
              </a:lnSpc>
              <a:spcBef>
                <a:spcPct val="0"/>
              </a:spcBef>
            </a:pPr>
            <a:r>
              <a:rPr lang="en-US" sz="7200" b="1" dirty="0">
                <a:solidFill>
                  <a:srgbClr val="FFFFFF"/>
                </a:solidFill>
                <a:latin typeface="TT Interphases"/>
                <a:ea typeface="TT Interphases"/>
                <a:cs typeface="TT Interphases"/>
                <a:sym typeface="TT Interphases"/>
              </a:rPr>
              <a:t>AFRIMENT</a:t>
            </a:r>
          </a:p>
          <a:p>
            <a:pPr marL="0" lvl="0" indent="0" algn="l">
              <a:lnSpc>
                <a:spcPts val="11200"/>
              </a:lnSpc>
              <a:spcBef>
                <a:spcPct val="0"/>
              </a:spcBef>
            </a:pPr>
            <a:endParaRPr lang="en-US" sz="2000" dirty="0">
              <a:solidFill>
                <a:srgbClr val="FFFFFF"/>
              </a:solidFill>
              <a:latin typeface="TT Interphases"/>
              <a:ea typeface="TT Interphases"/>
              <a:cs typeface="TT Interphases"/>
              <a:sym typeface="TT Interphases"/>
            </a:endParaRPr>
          </a:p>
        </p:txBody>
      </p:sp>
      <p:sp>
        <p:nvSpPr>
          <p:cNvPr id="34" name="TextBox 34"/>
          <p:cNvSpPr txBox="1"/>
          <p:nvPr/>
        </p:nvSpPr>
        <p:spPr>
          <a:xfrm>
            <a:off x="5620148" y="978495"/>
            <a:ext cx="7047703" cy="430887"/>
          </a:xfrm>
          <a:prstGeom prst="rect">
            <a:avLst/>
          </a:prstGeom>
        </p:spPr>
        <p:txBody>
          <a:bodyPr wrap="square" lIns="0" tIns="0" rIns="0" bIns="0" rtlCol="0" anchor="t">
            <a:spAutoFit/>
          </a:bodyPr>
          <a:lstStyle/>
          <a:p>
            <a:pPr marL="0" lvl="0" indent="0" algn="l">
              <a:spcBef>
                <a:spcPct val="0"/>
              </a:spcBef>
            </a:pPr>
            <a:r>
              <a:rPr lang="en-US" sz="2800" b="1" dirty="0">
                <a:solidFill>
                  <a:srgbClr val="FFFFFF"/>
                </a:solidFill>
                <a:latin typeface="Microsoft YaHei" panose="020B0503020204020204" pitchFamily="34" charset="-122"/>
                <a:ea typeface="Microsoft YaHei" panose="020B0503020204020204" pitchFamily="34" charset="-122"/>
                <a:cs typeface="TT Interphases"/>
                <a:sym typeface="TT Interphases"/>
              </a:rPr>
              <a:t>WHO WE ARE</a:t>
            </a:r>
          </a:p>
        </p:txBody>
      </p:sp>
      <p:sp>
        <p:nvSpPr>
          <p:cNvPr id="5" name="Rectangle: Rounded Corners 4">
            <a:extLst>
              <a:ext uri="{FF2B5EF4-FFF2-40B4-BE49-F238E27FC236}">
                <a16:creationId xmlns:a16="http://schemas.microsoft.com/office/drawing/2014/main" id="{00BA955C-F79F-426F-8F8B-A435677F8D9B}"/>
              </a:ext>
            </a:extLst>
          </p:cNvPr>
          <p:cNvSpPr/>
          <p:nvPr/>
        </p:nvSpPr>
        <p:spPr>
          <a:xfrm>
            <a:off x="609600" y="1377867"/>
            <a:ext cx="17130387" cy="5117187"/>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cxnSp>
        <p:nvCxnSpPr>
          <p:cNvPr id="7" name="Straight Connector 6">
            <a:extLst>
              <a:ext uri="{FF2B5EF4-FFF2-40B4-BE49-F238E27FC236}">
                <a16:creationId xmlns:a16="http://schemas.microsoft.com/office/drawing/2014/main" id="{EDCA61DE-573C-47DC-8A5B-099DA5DCAC64}"/>
              </a:ext>
            </a:extLst>
          </p:cNvPr>
          <p:cNvCxnSpPr>
            <a:cxnSpLocks/>
          </p:cNvCxnSpPr>
          <p:nvPr/>
        </p:nvCxnSpPr>
        <p:spPr>
          <a:xfrm>
            <a:off x="2667000" y="6591300"/>
            <a:ext cx="13030200" cy="0"/>
          </a:xfrm>
          <a:prstGeom prst="line">
            <a:avLst/>
          </a:prstGeom>
          <a:ln>
            <a:solidFill>
              <a:schemeClr val="bg1"/>
            </a:solidFill>
          </a:ln>
        </p:spPr>
        <p:style>
          <a:lnRef idx="3">
            <a:schemeClr val="dk1"/>
          </a:lnRef>
          <a:fillRef idx="0">
            <a:schemeClr val="dk1"/>
          </a:fillRef>
          <a:effectRef idx="2">
            <a:schemeClr val="dk1"/>
          </a:effectRef>
          <a:fontRef idx="minor">
            <a:schemeClr val="tx1"/>
          </a:fontRef>
        </p:style>
      </p:cxnSp>
      <p:sp>
        <p:nvSpPr>
          <p:cNvPr id="23" name="TextBox 22">
            <a:extLst>
              <a:ext uri="{FF2B5EF4-FFF2-40B4-BE49-F238E27FC236}">
                <a16:creationId xmlns:a16="http://schemas.microsoft.com/office/drawing/2014/main" id="{74264548-C0CB-48A4-B303-87CE9E6B7D30}"/>
              </a:ext>
            </a:extLst>
          </p:cNvPr>
          <p:cNvSpPr txBox="1"/>
          <p:nvPr/>
        </p:nvSpPr>
        <p:spPr>
          <a:xfrm>
            <a:off x="1258330" y="1881039"/>
            <a:ext cx="15621027" cy="4154984"/>
          </a:xfrm>
          <a:prstGeom prst="rect">
            <a:avLst/>
          </a:prstGeom>
          <a:noFill/>
        </p:spPr>
        <p:txBody>
          <a:bodyPr wrap="square" rtlCol="0">
            <a:spAutoFit/>
          </a:bodyPr>
          <a:lstStyle/>
          <a:p>
            <a:r>
              <a:rPr lang="en-US" sz="3200" b="1" dirty="0">
                <a:solidFill>
                  <a:schemeClr val="bg1"/>
                </a:solidFill>
                <a:latin typeface="Cambria Math" panose="02040503050406030204" pitchFamily="18" charset="0"/>
                <a:ea typeface="Cambria Math" panose="02040503050406030204" pitchFamily="18" charset="0"/>
              </a:rPr>
              <a:t>AFRIMENT</a:t>
            </a:r>
            <a:r>
              <a:rPr lang="en-US" dirty="0">
                <a:solidFill>
                  <a:schemeClr val="bg1"/>
                </a:solidFill>
              </a:rPr>
              <a:t> </a:t>
            </a:r>
            <a:r>
              <a:rPr lang="en-US" sz="2400" b="1" dirty="0">
                <a:solidFill>
                  <a:schemeClr val="bg1"/>
                </a:solidFill>
                <a:latin typeface="Candara" panose="020E0502030303020204" pitchFamily="34" charset="0"/>
              </a:rPr>
              <a:t>is more than just a learning hub; it’s a thriving community where aspiring tech professionals connect, collaborate, and grow. We provide both technical and non-technical resources to support holistic professional development.</a:t>
            </a:r>
          </a:p>
          <a:p>
            <a:endParaRPr lang="en-US" sz="2400" b="1" dirty="0">
              <a:solidFill>
                <a:schemeClr val="bg1"/>
              </a:solidFill>
              <a:latin typeface="Candara" panose="020E0502030303020204" pitchFamily="34" charset="0"/>
            </a:endParaRPr>
          </a:p>
          <a:p>
            <a:r>
              <a:rPr lang="en-US" sz="3200" b="1" dirty="0">
                <a:solidFill>
                  <a:schemeClr val="bg1"/>
                </a:solidFill>
                <a:latin typeface="Cambria Math" panose="02040503050406030204" pitchFamily="18" charset="0"/>
                <a:ea typeface="Cambria Math" panose="02040503050406030204" pitchFamily="18" charset="0"/>
              </a:rPr>
              <a:t>Our vision </a:t>
            </a:r>
            <a:r>
              <a:rPr lang="en-US" sz="2400" b="1" dirty="0">
                <a:solidFill>
                  <a:schemeClr val="bg1"/>
                </a:solidFill>
                <a:latin typeface="Candara" panose="020E0502030303020204" pitchFamily="34" charset="0"/>
              </a:rPr>
              <a:t>is to inspire and empower young individuals to thrive in the global tech ecosystem, fostering innovation, building opportunities, and shaping the future of technology across the continent and beyond.</a:t>
            </a:r>
          </a:p>
          <a:p>
            <a:endParaRPr lang="en-US" sz="2400" b="1" dirty="0">
              <a:solidFill>
                <a:schemeClr val="bg1"/>
              </a:solidFill>
              <a:latin typeface="Candara" panose="020E0502030303020204" pitchFamily="34" charset="0"/>
            </a:endParaRPr>
          </a:p>
          <a:p>
            <a:r>
              <a:rPr lang="en-US" sz="3200" b="1" dirty="0">
                <a:solidFill>
                  <a:schemeClr val="bg1"/>
                </a:solidFill>
                <a:latin typeface="Cambria Math" panose="02040503050406030204" pitchFamily="18" charset="0"/>
                <a:ea typeface="Cambria Math" panose="02040503050406030204" pitchFamily="18" charset="0"/>
              </a:rPr>
              <a:t>We are on a mission </a:t>
            </a:r>
            <a:r>
              <a:rPr lang="en-US" sz="2400" b="1" dirty="0">
                <a:solidFill>
                  <a:schemeClr val="bg1"/>
                </a:solidFill>
                <a:latin typeface="Candara" panose="020E0502030303020204" pitchFamily="34" charset="0"/>
              </a:rPr>
              <a:t>to create an inclusive environment where talent and potential are nurtured. By offering mentorship, skill-building program, and career pathways, Afriment is dedicated to breaking barriers and enabling young Africans to become trailblazers in the tech industry.</a:t>
            </a:r>
          </a:p>
        </p:txBody>
      </p:sp>
      <p:sp>
        <p:nvSpPr>
          <p:cNvPr id="35" name="Rectangle: Rounded Corners 34">
            <a:extLst>
              <a:ext uri="{FF2B5EF4-FFF2-40B4-BE49-F238E27FC236}">
                <a16:creationId xmlns:a16="http://schemas.microsoft.com/office/drawing/2014/main" id="{8D8B0408-646D-4898-ADD6-23B87BB5F72B}"/>
              </a:ext>
            </a:extLst>
          </p:cNvPr>
          <p:cNvSpPr/>
          <p:nvPr/>
        </p:nvSpPr>
        <p:spPr>
          <a:xfrm>
            <a:off x="1295400" y="7172979"/>
            <a:ext cx="3962400" cy="2258720"/>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Rectangle: Rounded Corners 11">
            <a:extLst>
              <a:ext uri="{FF2B5EF4-FFF2-40B4-BE49-F238E27FC236}">
                <a16:creationId xmlns:a16="http://schemas.microsoft.com/office/drawing/2014/main" id="{2ACBA0ED-08AD-44A1-A9F0-2382264A9125}"/>
              </a:ext>
            </a:extLst>
          </p:cNvPr>
          <p:cNvSpPr/>
          <p:nvPr/>
        </p:nvSpPr>
        <p:spPr>
          <a:xfrm>
            <a:off x="5410200" y="7124700"/>
            <a:ext cx="3962400" cy="2258720"/>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3" name="Rectangle: Rounded Corners 12">
            <a:extLst>
              <a:ext uri="{FF2B5EF4-FFF2-40B4-BE49-F238E27FC236}">
                <a16:creationId xmlns:a16="http://schemas.microsoft.com/office/drawing/2014/main" id="{A1EBA247-5B55-45C0-99F4-A73C350C6229}"/>
              </a:ext>
            </a:extLst>
          </p:cNvPr>
          <p:cNvSpPr/>
          <p:nvPr/>
        </p:nvSpPr>
        <p:spPr>
          <a:xfrm>
            <a:off x="9537032" y="7118789"/>
            <a:ext cx="3962400" cy="2258720"/>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accent1"/>
              </a:solidFill>
              <a:effectLst>
                <a:outerShdw blurRad="38100" dist="25400" dir="5400000" algn="ctr" rotWithShape="0">
                  <a:srgbClr val="6E747A">
                    <a:alpha val="43000"/>
                  </a:srgbClr>
                </a:outerShdw>
              </a:effectLst>
            </a:endParaRPr>
          </a:p>
        </p:txBody>
      </p:sp>
      <p:sp>
        <p:nvSpPr>
          <p:cNvPr id="14" name="Rectangle: Rounded Corners 13">
            <a:extLst>
              <a:ext uri="{FF2B5EF4-FFF2-40B4-BE49-F238E27FC236}">
                <a16:creationId xmlns:a16="http://schemas.microsoft.com/office/drawing/2014/main" id="{799B4DE4-C4B7-465F-A333-F4A7A178CD73}"/>
              </a:ext>
            </a:extLst>
          </p:cNvPr>
          <p:cNvSpPr/>
          <p:nvPr/>
        </p:nvSpPr>
        <p:spPr>
          <a:xfrm>
            <a:off x="13639800" y="7132877"/>
            <a:ext cx="3962400" cy="2258720"/>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6" name="TextBox 5">
            <a:extLst>
              <a:ext uri="{FF2B5EF4-FFF2-40B4-BE49-F238E27FC236}">
                <a16:creationId xmlns:a16="http://schemas.microsoft.com/office/drawing/2014/main" id="{7BD740A3-8636-40C4-8350-6C363D6B55A2}"/>
              </a:ext>
            </a:extLst>
          </p:cNvPr>
          <p:cNvSpPr txBox="1"/>
          <p:nvPr/>
        </p:nvSpPr>
        <p:spPr>
          <a:xfrm>
            <a:off x="1989027" y="7596673"/>
            <a:ext cx="2695184" cy="1046440"/>
          </a:xfrm>
          <a:prstGeom prst="rect">
            <a:avLst/>
          </a:prstGeom>
          <a:noFill/>
        </p:spPr>
        <p:txBody>
          <a:bodyPr wrap="square" rtlCol="0">
            <a:spAutoFit/>
          </a:bodyPr>
          <a:lstStyle/>
          <a:p>
            <a:pPr algn="ctr"/>
            <a:r>
              <a:rPr lang="en-US" sz="4400" b="1" dirty="0">
                <a:solidFill>
                  <a:schemeClr val="bg1"/>
                </a:solidFill>
              </a:rPr>
              <a:t>25,000+ </a:t>
            </a:r>
          </a:p>
          <a:p>
            <a:pPr algn="ctr"/>
            <a:r>
              <a:rPr lang="en-US" b="1" dirty="0">
                <a:solidFill>
                  <a:schemeClr val="bg1"/>
                </a:solidFill>
                <a:latin typeface="Candara" panose="020E0502030303020204" pitchFamily="34" charset="0"/>
              </a:rPr>
              <a:t>ALUMNI</a:t>
            </a:r>
          </a:p>
        </p:txBody>
      </p:sp>
      <p:sp>
        <p:nvSpPr>
          <p:cNvPr id="18" name="TextBox 17">
            <a:extLst>
              <a:ext uri="{FF2B5EF4-FFF2-40B4-BE49-F238E27FC236}">
                <a16:creationId xmlns:a16="http://schemas.microsoft.com/office/drawing/2014/main" id="{59ED9DBC-45FB-42EE-9BCC-5A1BF74A60FF}"/>
              </a:ext>
            </a:extLst>
          </p:cNvPr>
          <p:cNvSpPr txBox="1"/>
          <p:nvPr/>
        </p:nvSpPr>
        <p:spPr>
          <a:xfrm>
            <a:off x="6156048" y="7595070"/>
            <a:ext cx="2695184" cy="1046440"/>
          </a:xfrm>
          <a:prstGeom prst="rect">
            <a:avLst/>
          </a:prstGeom>
          <a:noFill/>
        </p:spPr>
        <p:txBody>
          <a:bodyPr wrap="square" rtlCol="0">
            <a:spAutoFit/>
          </a:bodyPr>
          <a:lstStyle/>
          <a:p>
            <a:pPr algn="ctr"/>
            <a:r>
              <a:rPr lang="en-US" sz="4400" b="1" dirty="0">
                <a:solidFill>
                  <a:schemeClr val="bg1"/>
                </a:solidFill>
              </a:rPr>
              <a:t>500+</a:t>
            </a:r>
          </a:p>
          <a:p>
            <a:pPr algn="ctr"/>
            <a:r>
              <a:rPr lang="en-US" b="1" dirty="0">
                <a:solidFill>
                  <a:schemeClr val="bg1"/>
                </a:solidFill>
                <a:latin typeface="Candara" panose="020E0502030303020204" pitchFamily="34" charset="0"/>
              </a:rPr>
              <a:t>HIRED</a:t>
            </a:r>
          </a:p>
        </p:txBody>
      </p:sp>
      <p:sp>
        <p:nvSpPr>
          <p:cNvPr id="19" name="TextBox 18">
            <a:extLst>
              <a:ext uri="{FF2B5EF4-FFF2-40B4-BE49-F238E27FC236}">
                <a16:creationId xmlns:a16="http://schemas.microsoft.com/office/drawing/2014/main" id="{AE56BB03-C70E-49DF-A655-41E526F95304}"/>
              </a:ext>
            </a:extLst>
          </p:cNvPr>
          <p:cNvSpPr txBox="1"/>
          <p:nvPr/>
        </p:nvSpPr>
        <p:spPr>
          <a:xfrm>
            <a:off x="10170640" y="7534300"/>
            <a:ext cx="2695184" cy="1046440"/>
          </a:xfrm>
          <a:prstGeom prst="rect">
            <a:avLst/>
          </a:prstGeom>
          <a:noFill/>
        </p:spPr>
        <p:txBody>
          <a:bodyPr wrap="square" rtlCol="0">
            <a:spAutoFit/>
          </a:bodyPr>
          <a:lstStyle/>
          <a:p>
            <a:pPr algn="ctr"/>
            <a:r>
              <a:rPr lang="en-US" sz="4400" b="1" dirty="0">
                <a:solidFill>
                  <a:schemeClr val="bg1"/>
                </a:solidFill>
              </a:rPr>
              <a:t>20+</a:t>
            </a:r>
          </a:p>
          <a:p>
            <a:pPr algn="ctr"/>
            <a:r>
              <a:rPr lang="en-US" b="1" dirty="0">
                <a:solidFill>
                  <a:schemeClr val="bg1"/>
                </a:solidFill>
                <a:latin typeface="Candara" panose="020E0502030303020204" pitchFamily="34" charset="0"/>
              </a:rPr>
              <a:t>COHORTS</a:t>
            </a:r>
          </a:p>
        </p:txBody>
      </p:sp>
      <p:sp>
        <p:nvSpPr>
          <p:cNvPr id="21" name="TextBox 20">
            <a:extLst>
              <a:ext uri="{FF2B5EF4-FFF2-40B4-BE49-F238E27FC236}">
                <a16:creationId xmlns:a16="http://schemas.microsoft.com/office/drawing/2014/main" id="{787660F1-B806-44AA-AC8D-58E8AE26DAD1}"/>
              </a:ext>
            </a:extLst>
          </p:cNvPr>
          <p:cNvSpPr txBox="1"/>
          <p:nvPr/>
        </p:nvSpPr>
        <p:spPr>
          <a:xfrm>
            <a:off x="14221243" y="7517366"/>
            <a:ext cx="2695184" cy="1046440"/>
          </a:xfrm>
          <a:prstGeom prst="rect">
            <a:avLst/>
          </a:prstGeom>
          <a:noFill/>
        </p:spPr>
        <p:txBody>
          <a:bodyPr wrap="square" rtlCol="0">
            <a:spAutoFit/>
          </a:bodyPr>
          <a:lstStyle/>
          <a:p>
            <a:pPr algn="ctr"/>
            <a:r>
              <a:rPr lang="en-US" sz="4400" b="1" dirty="0">
                <a:solidFill>
                  <a:schemeClr val="bg1"/>
                </a:solidFill>
              </a:rPr>
              <a:t>30+</a:t>
            </a:r>
          </a:p>
          <a:p>
            <a:pPr algn="ctr"/>
            <a:r>
              <a:rPr lang="en-US" b="1" dirty="0">
                <a:solidFill>
                  <a:schemeClr val="bg1"/>
                </a:solidFill>
                <a:latin typeface="Candara" panose="020E0502030303020204" pitchFamily="34" charset="0"/>
              </a:rPr>
              <a:t>COUNTRIES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11982" y="-4038599"/>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solidFill>
            <a:schemeClr val="bg1">
              <a:lumMod val="75000"/>
            </a:schemeClr>
          </a:solidFill>
          <a:scene3d>
            <a:camera prst="orthographicFront"/>
            <a:lightRig rig="threePt" dir="t"/>
          </a:scene3d>
          <a:sp3d>
            <a:bevelT w="101600" prst="riblet"/>
          </a:sp3d>
        </p:spPr>
        <p:txBody>
          <a:bodyPr/>
          <a:lstStyle/>
          <a:p>
            <a:endParaRPr lang="en-US" dirty="0"/>
          </a:p>
        </p:txBody>
      </p:sp>
      <p:sp>
        <p:nvSpPr>
          <p:cNvPr id="49" name="TextBox 49"/>
          <p:cNvSpPr txBox="1"/>
          <p:nvPr/>
        </p:nvSpPr>
        <p:spPr>
          <a:xfrm>
            <a:off x="15530005" y="9887237"/>
            <a:ext cx="3215195" cy="285463"/>
          </a:xfrm>
          <a:prstGeom prst="rect">
            <a:avLst/>
          </a:prstGeom>
        </p:spPr>
        <p:txBody>
          <a:bodyPr wrap="square" lIns="0" tIns="0" rIns="0" bIns="0" rtlCol="0" anchor="t">
            <a:spAutoFit/>
          </a:bodyPr>
          <a:lstStyle/>
          <a:p>
            <a:pPr marL="0" lvl="0" indent="0" algn="l">
              <a:lnSpc>
                <a:spcPts val="2240"/>
              </a:lnSpc>
              <a:spcBef>
                <a:spcPct val="0"/>
              </a:spcBef>
            </a:pPr>
            <a:r>
              <a:rPr lang="en-US" sz="2000" b="1" dirty="0">
                <a:solidFill>
                  <a:schemeClr val="tx1">
                    <a:lumMod val="95000"/>
                    <a:lumOff val="5000"/>
                  </a:schemeClr>
                </a:solidFill>
                <a:latin typeface="TT Interphases"/>
                <a:ea typeface="TT Interphases"/>
                <a:cs typeface="TT Interphases"/>
                <a:sym typeface="TT Interphases"/>
              </a:rPr>
              <a:t>PREPARED BY POD B</a:t>
            </a:r>
          </a:p>
        </p:txBody>
      </p:sp>
      <p:sp>
        <p:nvSpPr>
          <p:cNvPr id="21" name="TextBox 34">
            <a:extLst>
              <a:ext uri="{FF2B5EF4-FFF2-40B4-BE49-F238E27FC236}">
                <a16:creationId xmlns:a16="http://schemas.microsoft.com/office/drawing/2014/main" id="{D62899DC-38C2-4899-A283-086F473A4BA0}"/>
              </a:ext>
            </a:extLst>
          </p:cNvPr>
          <p:cNvSpPr txBox="1"/>
          <p:nvPr/>
        </p:nvSpPr>
        <p:spPr>
          <a:xfrm>
            <a:off x="490603" y="358962"/>
            <a:ext cx="6992655" cy="492443"/>
          </a:xfrm>
          <a:prstGeom prst="rect">
            <a:avLst/>
          </a:prstGeom>
        </p:spPr>
        <p:txBody>
          <a:bodyPr wrap="square" lIns="0" tIns="0" rIns="0" bIns="0" rtlCol="0" anchor="t">
            <a:spAutoFit/>
          </a:bodyPr>
          <a:lstStyle/>
          <a:p>
            <a:pPr marL="0" lvl="0" indent="0" algn="l">
              <a:spcBef>
                <a:spcPct val="0"/>
              </a:spcBef>
            </a:pPr>
            <a:r>
              <a:rPr lang="en-US" sz="3200" b="1" u="sng" dirty="0">
                <a:solidFill>
                  <a:schemeClr val="tx1">
                    <a:lumMod val="95000"/>
                    <a:lumOff val="5000"/>
                  </a:schemeClr>
                </a:solidFill>
                <a:latin typeface="Microsoft YaHei" panose="020B0503020204020204" pitchFamily="34" charset="-122"/>
                <a:ea typeface="Microsoft YaHei" panose="020B0503020204020204" pitchFamily="34" charset="-122"/>
                <a:cs typeface="TT Interphases"/>
                <a:sym typeface="TT Interphases"/>
              </a:rPr>
              <a:t>BUSINESS PROBLEM</a:t>
            </a:r>
          </a:p>
        </p:txBody>
      </p:sp>
      <p:sp>
        <p:nvSpPr>
          <p:cNvPr id="16" name="TextBox 15">
            <a:extLst>
              <a:ext uri="{FF2B5EF4-FFF2-40B4-BE49-F238E27FC236}">
                <a16:creationId xmlns:a16="http://schemas.microsoft.com/office/drawing/2014/main" id="{EE79346C-5FC1-496F-9596-B350C00512EE}"/>
              </a:ext>
            </a:extLst>
          </p:cNvPr>
          <p:cNvSpPr txBox="1"/>
          <p:nvPr/>
        </p:nvSpPr>
        <p:spPr>
          <a:xfrm>
            <a:off x="2630584" y="6004962"/>
            <a:ext cx="8657828" cy="2554545"/>
          </a:xfrm>
          <a:prstGeom prst="rect">
            <a:avLst/>
          </a:prstGeom>
          <a:noFill/>
        </p:spPr>
        <p:txBody>
          <a:bodyPr wrap="square" rtlCol="0">
            <a:spAutoFit/>
          </a:bodyPr>
          <a:lstStyle/>
          <a:p>
            <a:r>
              <a:rPr lang="en-US" sz="4000" b="1" dirty="0">
                <a:latin typeface="Arial Rounded MT Bold" panose="020F0704030504030204" pitchFamily="34" charset="0"/>
              </a:rPr>
              <a:t>We built a complete Demographic Profile of Afriment’s Learners to spot trends that can help improve the program.  </a:t>
            </a:r>
          </a:p>
        </p:txBody>
      </p:sp>
      <p:pic>
        <p:nvPicPr>
          <p:cNvPr id="5" name="Picture 4">
            <a:extLst>
              <a:ext uri="{FF2B5EF4-FFF2-40B4-BE49-F238E27FC236}">
                <a16:creationId xmlns:a16="http://schemas.microsoft.com/office/drawing/2014/main" id="{C0B6654B-5113-408A-B3D2-FF58DAD232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1466" y="876822"/>
            <a:ext cx="5694636" cy="3794941"/>
          </a:xfrm>
          <a:prstGeom prst="rect">
            <a:avLst/>
          </a:prstGeom>
          <a:ln>
            <a:noFill/>
          </a:ln>
          <a:effectLst>
            <a:softEdge rad="317500"/>
          </a:effectLst>
        </p:spPr>
      </p:pic>
      <p:sp>
        <p:nvSpPr>
          <p:cNvPr id="3" name="TextBox 2">
            <a:extLst>
              <a:ext uri="{FF2B5EF4-FFF2-40B4-BE49-F238E27FC236}">
                <a16:creationId xmlns:a16="http://schemas.microsoft.com/office/drawing/2014/main" id="{84196819-3D0E-42FA-9CF8-6FC0BDBCCC24}"/>
              </a:ext>
            </a:extLst>
          </p:cNvPr>
          <p:cNvSpPr txBox="1"/>
          <p:nvPr/>
        </p:nvSpPr>
        <p:spPr>
          <a:xfrm>
            <a:off x="838200" y="1443124"/>
            <a:ext cx="7868632" cy="2665624"/>
          </a:xfrm>
          <a:prstGeom prst="rect">
            <a:avLst/>
          </a:prstGeom>
          <a:noFill/>
        </p:spPr>
        <p:txBody>
          <a:bodyPr wrap="square" rtlCol="0">
            <a:spAutoFit/>
          </a:bodyPr>
          <a:lstStyle/>
          <a:p>
            <a:r>
              <a:rPr lang="en-US" sz="2800" b="1" dirty="0">
                <a:latin typeface="Arial Rounded MT Bold" panose="020F0704030504030204" pitchFamily="34" charset="0"/>
              </a:rPr>
              <a:t>Afriment wants to understand who their learners are. What is the gender split? Which countries do they come from? What programs are most popular? How satisfied are they? And how these numbers have changed over time?</a:t>
            </a:r>
          </a:p>
        </p:txBody>
      </p:sp>
      <p:pic>
        <p:nvPicPr>
          <p:cNvPr id="8" name="Picture 7">
            <a:extLst>
              <a:ext uri="{FF2B5EF4-FFF2-40B4-BE49-F238E27FC236}">
                <a16:creationId xmlns:a16="http://schemas.microsoft.com/office/drawing/2014/main" id="{8A1236BF-1947-41B6-B5F8-EEFE98786F7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405096">
            <a:off x="10784388" y="5555708"/>
            <a:ext cx="5181600" cy="3453051"/>
          </a:xfrm>
          <a:prstGeom prst="rect">
            <a:avLst/>
          </a:prstGeom>
          <a:effectLst>
            <a:softEdge rad="317500"/>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4038599"/>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bg2">
              <a:lumMod val="25000"/>
            </a:schemeClr>
          </a:solidFill>
          <a:scene3d>
            <a:camera prst="orthographicFront"/>
            <a:lightRig rig="threePt" dir="t"/>
          </a:scene3d>
          <a:sp3d>
            <a:bevelT w="101600" prst="riblet"/>
          </a:sp3d>
        </p:spPr>
        <p:txBody>
          <a:bodyPr/>
          <a:lstStyle/>
          <a:p>
            <a:endParaRPr lang="en-US" dirty="0"/>
          </a:p>
        </p:txBody>
      </p:sp>
      <p:sp>
        <p:nvSpPr>
          <p:cNvPr id="3" name="TextBox 2">
            <a:extLst>
              <a:ext uri="{FF2B5EF4-FFF2-40B4-BE49-F238E27FC236}">
                <a16:creationId xmlns:a16="http://schemas.microsoft.com/office/drawing/2014/main" id="{F8D5095B-B3E2-4410-BDD3-44BD25E187B5}"/>
              </a:ext>
            </a:extLst>
          </p:cNvPr>
          <p:cNvSpPr txBox="1"/>
          <p:nvPr/>
        </p:nvSpPr>
        <p:spPr>
          <a:xfrm>
            <a:off x="6096001" y="9727168"/>
            <a:ext cx="5352788" cy="400110"/>
          </a:xfrm>
          <a:prstGeom prst="rect">
            <a:avLst/>
          </a:prstGeom>
          <a:noFill/>
        </p:spPr>
        <p:txBody>
          <a:bodyPr wrap="square" rtlCol="0">
            <a:spAutoFit/>
          </a:bodyPr>
          <a:lstStyle/>
          <a:p>
            <a:r>
              <a:rPr lang="en-US" sz="2000" b="1" dirty="0">
                <a:hlinkClick r:id="rId2"/>
              </a:rPr>
              <a:t>https://datastudio.google.com/s/pJj4EU4rybE</a:t>
            </a:r>
            <a:r>
              <a:rPr lang="en-US" sz="2000" b="1" dirty="0"/>
              <a:t> </a:t>
            </a:r>
          </a:p>
        </p:txBody>
      </p:sp>
      <p:pic>
        <p:nvPicPr>
          <p:cNvPr id="7" name="Picture 6">
            <a:extLst>
              <a:ext uri="{FF2B5EF4-FFF2-40B4-BE49-F238E27FC236}">
                <a16:creationId xmlns:a16="http://schemas.microsoft.com/office/drawing/2014/main" id="{235595E7-8764-496A-BEA1-1472625168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38100"/>
            <a:ext cx="17830800" cy="9657034"/>
          </a:xfrm>
          <a:prstGeom prst="rect">
            <a:avLst/>
          </a:prstGeom>
          <a:effectLst>
            <a:softEdge rad="63500"/>
          </a:effectLst>
        </p:spPr>
      </p:pic>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3991136"/>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bg1">
              <a:lumMod val="75000"/>
            </a:schemeClr>
          </a:solidFill>
          <a:scene3d>
            <a:camera prst="orthographicFront"/>
            <a:lightRig rig="threePt" dir="t"/>
          </a:scene3d>
          <a:sp3d>
            <a:bevelT w="101600" prst="riblet"/>
          </a:sp3d>
        </p:spPr>
      </p:sp>
      <p:sp>
        <p:nvSpPr>
          <p:cNvPr id="4" name="TextBox 3">
            <a:extLst>
              <a:ext uri="{FF2B5EF4-FFF2-40B4-BE49-F238E27FC236}">
                <a16:creationId xmlns:a16="http://schemas.microsoft.com/office/drawing/2014/main" id="{BF42D865-C790-4986-839E-AD416187B0CF}"/>
              </a:ext>
            </a:extLst>
          </p:cNvPr>
          <p:cNvSpPr txBox="1"/>
          <p:nvPr/>
        </p:nvSpPr>
        <p:spPr>
          <a:xfrm>
            <a:off x="533400" y="927014"/>
            <a:ext cx="8080331" cy="863686"/>
          </a:xfrm>
          <a:prstGeom prst="rect">
            <a:avLst/>
          </a:prstGeom>
          <a:noFill/>
        </p:spPr>
        <p:txBody>
          <a:bodyPr wrap="square" rtlCol="0">
            <a:spAutoFit/>
          </a:bodyPr>
          <a:lstStyle/>
          <a:p>
            <a:r>
              <a:rPr lang="en-US" sz="2400" b="1" dirty="0">
                <a:latin typeface="Arial Rounded MT Bold" panose="020F0704030504030204" pitchFamily="34" charset="0"/>
              </a:rPr>
              <a:t>Branding:</a:t>
            </a:r>
            <a:r>
              <a:rPr lang="en-US" sz="2400" dirty="0">
                <a:latin typeface="Arial Rounded MT Bold" panose="020F0704030504030204" pitchFamily="34" charset="0"/>
              </a:rPr>
              <a:t> </a:t>
            </a:r>
            <a:r>
              <a:rPr lang="en-US" sz="2400" b="1" dirty="0">
                <a:latin typeface="+mj-lt"/>
              </a:rPr>
              <a:t>Afriment is strongly associated with Virtual Assistant, overshadowing its other programs. </a:t>
            </a:r>
          </a:p>
        </p:txBody>
      </p:sp>
      <p:sp>
        <p:nvSpPr>
          <p:cNvPr id="5" name="TextBox 4">
            <a:extLst>
              <a:ext uri="{FF2B5EF4-FFF2-40B4-BE49-F238E27FC236}">
                <a16:creationId xmlns:a16="http://schemas.microsoft.com/office/drawing/2014/main" id="{8AFE8562-B1D7-48C8-AE4C-3EC06F6D7127}"/>
              </a:ext>
            </a:extLst>
          </p:cNvPr>
          <p:cNvSpPr txBox="1"/>
          <p:nvPr/>
        </p:nvSpPr>
        <p:spPr>
          <a:xfrm>
            <a:off x="8991600" y="781559"/>
            <a:ext cx="8070937" cy="1477328"/>
          </a:xfrm>
          <a:prstGeom prst="rect">
            <a:avLst/>
          </a:prstGeom>
          <a:noFill/>
        </p:spPr>
        <p:txBody>
          <a:bodyPr wrap="square" rtlCol="0">
            <a:spAutoFit/>
          </a:bodyPr>
          <a:lstStyle/>
          <a:p>
            <a:r>
              <a:rPr lang="en-US" sz="2400" b="1" dirty="0">
                <a:latin typeface="Arial Rounded MT Bold" panose="020F0704030504030204" pitchFamily="34" charset="0"/>
              </a:rPr>
              <a:t>Male Learners: </a:t>
            </a:r>
            <a:r>
              <a:rPr lang="en-US" sz="2400" b="1" dirty="0"/>
              <a:t>Virtual assistant and Customer Support are the most preferred tracks, with most Males favoring the Internship + Mentorship pathway. </a:t>
            </a:r>
          </a:p>
          <a:p>
            <a:endParaRPr lang="en-US" dirty="0"/>
          </a:p>
        </p:txBody>
      </p:sp>
      <p:sp>
        <p:nvSpPr>
          <p:cNvPr id="6" name="TextBox 5">
            <a:extLst>
              <a:ext uri="{FF2B5EF4-FFF2-40B4-BE49-F238E27FC236}">
                <a16:creationId xmlns:a16="http://schemas.microsoft.com/office/drawing/2014/main" id="{05F49849-1451-4A29-8588-F6BBF7534948}"/>
              </a:ext>
            </a:extLst>
          </p:cNvPr>
          <p:cNvSpPr txBox="1"/>
          <p:nvPr/>
        </p:nvSpPr>
        <p:spPr>
          <a:xfrm>
            <a:off x="838200" y="2419171"/>
            <a:ext cx="8070937" cy="1200329"/>
          </a:xfrm>
          <a:prstGeom prst="rect">
            <a:avLst/>
          </a:prstGeom>
          <a:noFill/>
        </p:spPr>
        <p:txBody>
          <a:bodyPr wrap="square" rtlCol="0">
            <a:spAutoFit/>
          </a:bodyPr>
          <a:lstStyle/>
          <a:p>
            <a:r>
              <a:rPr lang="en-US" sz="2400" b="1" dirty="0">
                <a:latin typeface="Arial Rounded MT Bold" panose="020F0704030504030204" pitchFamily="34" charset="0"/>
              </a:rPr>
              <a:t>Referral Source:</a:t>
            </a:r>
            <a:r>
              <a:rPr lang="en-US" sz="2400" dirty="0">
                <a:latin typeface="Arial Rounded MT Bold" panose="020F0704030504030204" pitchFamily="34" charset="0"/>
              </a:rPr>
              <a:t> </a:t>
            </a:r>
            <a:r>
              <a:rPr lang="en-US" sz="2400" b="1" dirty="0"/>
              <a:t>LinkedIn (68%) is the primary source channel across all cohorts, followed by Word of Mouth (27%). This trend is consistent across both genders.  </a:t>
            </a:r>
          </a:p>
        </p:txBody>
      </p:sp>
      <p:sp>
        <p:nvSpPr>
          <p:cNvPr id="7" name="TextBox 6">
            <a:extLst>
              <a:ext uri="{FF2B5EF4-FFF2-40B4-BE49-F238E27FC236}">
                <a16:creationId xmlns:a16="http://schemas.microsoft.com/office/drawing/2014/main" id="{24ABEDE4-5EBD-404B-9198-216E8BFBE490}"/>
              </a:ext>
            </a:extLst>
          </p:cNvPr>
          <p:cNvSpPr txBox="1"/>
          <p:nvPr/>
        </p:nvSpPr>
        <p:spPr>
          <a:xfrm>
            <a:off x="9630428" y="2552700"/>
            <a:ext cx="8047972" cy="1200329"/>
          </a:xfrm>
          <a:prstGeom prst="rect">
            <a:avLst/>
          </a:prstGeom>
          <a:noFill/>
        </p:spPr>
        <p:txBody>
          <a:bodyPr wrap="square" rtlCol="0">
            <a:spAutoFit/>
          </a:bodyPr>
          <a:lstStyle/>
          <a:p>
            <a:r>
              <a:rPr lang="en-US" sz="2400" b="1" dirty="0">
                <a:latin typeface="Arial Rounded MT Bold" panose="020F0704030504030204" pitchFamily="34" charset="0"/>
              </a:rPr>
              <a:t>Geographic Reach</a:t>
            </a:r>
            <a:r>
              <a:rPr lang="en-US" sz="2400" dirty="0">
                <a:latin typeface="Arial Rounded MT Bold" panose="020F0704030504030204" pitchFamily="34" charset="0"/>
              </a:rPr>
              <a:t>: </a:t>
            </a:r>
            <a:r>
              <a:rPr lang="en-US" sz="2400" b="1" dirty="0"/>
              <a:t>Nigeria (93%) is Afriment’s strongest market, while Ghana (3%) is the second largest but has experienced a recent decline in participation. </a:t>
            </a:r>
          </a:p>
        </p:txBody>
      </p:sp>
      <p:sp>
        <p:nvSpPr>
          <p:cNvPr id="8" name="TextBox 7">
            <a:extLst>
              <a:ext uri="{FF2B5EF4-FFF2-40B4-BE49-F238E27FC236}">
                <a16:creationId xmlns:a16="http://schemas.microsoft.com/office/drawing/2014/main" id="{319BDB14-F1FB-44CF-AC9D-1AE0E72F5BE9}"/>
              </a:ext>
            </a:extLst>
          </p:cNvPr>
          <p:cNvSpPr txBox="1"/>
          <p:nvPr/>
        </p:nvSpPr>
        <p:spPr>
          <a:xfrm>
            <a:off x="1149263" y="4381500"/>
            <a:ext cx="8070937" cy="1200329"/>
          </a:xfrm>
          <a:prstGeom prst="rect">
            <a:avLst/>
          </a:prstGeom>
          <a:noFill/>
        </p:spPr>
        <p:txBody>
          <a:bodyPr wrap="square" rtlCol="0">
            <a:spAutoFit/>
          </a:bodyPr>
          <a:lstStyle/>
          <a:p>
            <a:r>
              <a:rPr lang="en-US" sz="2400" b="1" dirty="0">
                <a:latin typeface="Arial Rounded MT Bold" panose="020F0704030504030204" pitchFamily="34" charset="0"/>
              </a:rPr>
              <a:t>Knowledge Level</a:t>
            </a:r>
            <a:r>
              <a:rPr lang="en-US" sz="2400" dirty="0">
                <a:latin typeface="Arial Rounded MT Bold" panose="020F0704030504030204" pitchFamily="34" charset="0"/>
              </a:rPr>
              <a:t>: </a:t>
            </a:r>
            <a:r>
              <a:rPr lang="en-US" sz="2400" b="1" dirty="0">
                <a:latin typeface="+mj-lt"/>
              </a:rPr>
              <a:t>About 95% of applicants are Beginners or Intermediates, though many report prior training, making self-reported experience an unreliable skill indicator. </a:t>
            </a:r>
          </a:p>
        </p:txBody>
      </p:sp>
      <p:sp>
        <p:nvSpPr>
          <p:cNvPr id="9" name="TextBox 8">
            <a:extLst>
              <a:ext uri="{FF2B5EF4-FFF2-40B4-BE49-F238E27FC236}">
                <a16:creationId xmlns:a16="http://schemas.microsoft.com/office/drawing/2014/main" id="{028C32F7-CF4E-4F22-B0A4-329760870ADF}"/>
              </a:ext>
            </a:extLst>
          </p:cNvPr>
          <p:cNvSpPr txBox="1"/>
          <p:nvPr/>
        </p:nvSpPr>
        <p:spPr>
          <a:xfrm>
            <a:off x="3962400" y="6097085"/>
            <a:ext cx="11027601" cy="1200329"/>
          </a:xfrm>
          <a:prstGeom prst="rect">
            <a:avLst/>
          </a:prstGeom>
          <a:noFill/>
        </p:spPr>
        <p:txBody>
          <a:bodyPr wrap="square" rtlCol="0">
            <a:spAutoFit/>
          </a:bodyPr>
          <a:lstStyle/>
          <a:p>
            <a:r>
              <a:rPr lang="en-US" sz="2400" b="1" dirty="0">
                <a:latin typeface="Arial Rounded MT Bold" panose="020F0704030504030204" pitchFamily="34" charset="0"/>
              </a:rPr>
              <a:t>Program Interest</a:t>
            </a:r>
            <a:r>
              <a:rPr lang="en-US" sz="2400" b="1" dirty="0"/>
              <a:t>: Virtual Assistant remains the most popular program (52%), while Customer Support ranks second (14%) but has shown declining interest in recent cohorts.</a:t>
            </a:r>
          </a:p>
        </p:txBody>
      </p:sp>
      <p:sp>
        <p:nvSpPr>
          <p:cNvPr id="10" name="TextBox 9">
            <a:extLst>
              <a:ext uri="{FF2B5EF4-FFF2-40B4-BE49-F238E27FC236}">
                <a16:creationId xmlns:a16="http://schemas.microsoft.com/office/drawing/2014/main" id="{E96CD7F0-A722-4AAC-8488-0FD6E812B21D}"/>
              </a:ext>
            </a:extLst>
          </p:cNvPr>
          <p:cNvSpPr txBox="1"/>
          <p:nvPr/>
        </p:nvSpPr>
        <p:spPr>
          <a:xfrm>
            <a:off x="10140863" y="4457700"/>
            <a:ext cx="8070937" cy="830997"/>
          </a:xfrm>
          <a:prstGeom prst="rect">
            <a:avLst/>
          </a:prstGeom>
          <a:noFill/>
        </p:spPr>
        <p:txBody>
          <a:bodyPr wrap="square" rtlCol="0">
            <a:spAutoFit/>
          </a:bodyPr>
          <a:lstStyle/>
          <a:p>
            <a:r>
              <a:rPr lang="en-US" sz="2400" b="1" dirty="0">
                <a:latin typeface="Arial Rounded MT Bold" panose="020F0704030504030204" pitchFamily="34" charset="0"/>
              </a:rPr>
              <a:t>Gender Imbalance:</a:t>
            </a:r>
            <a:r>
              <a:rPr lang="en-US" sz="2400" dirty="0">
                <a:latin typeface="Arial Rounded MT Bold" panose="020F0704030504030204" pitchFamily="34" charset="0"/>
              </a:rPr>
              <a:t> </a:t>
            </a:r>
            <a:r>
              <a:rPr lang="en-US" sz="2400" b="1" dirty="0"/>
              <a:t>Female learners (83%) dominate all the cohort leaving only few male participants (17%).</a:t>
            </a:r>
          </a:p>
        </p:txBody>
      </p:sp>
      <p:sp>
        <p:nvSpPr>
          <p:cNvPr id="11" name="TextBox 10">
            <a:extLst>
              <a:ext uri="{FF2B5EF4-FFF2-40B4-BE49-F238E27FC236}">
                <a16:creationId xmlns:a16="http://schemas.microsoft.com/office/drawing/2014/main" id="{A66BE228-C348-4D6F-97F7-0AE12F434101}"/>
              </a:ext>
            </a:extLst>
          </p:cNvPr>
          <p:cNvSpPr txBox="1"/>
          <p:nvPr/>
        </p:nvSpPr>
        <p:spPr>
          <a:xfrm>
            <a:off x="1489031" y="7858661"/>
            <a:ext cx="15462337" cy="1323439"/>
          </a:xfrm>
          <a:prstGeom prst="rect">
            <a:avLst/>
          </a:prstGeom>
          <a:noFill/>
        </p:spPr>
        <p:txBody>
          <a:bodyPr wrap="square" rtlCol="0">
            <a:spAutoFit/>
          </a:bodyPr>
          <a:lstStyle/>
          <a:p>
            <a:pPr algn="ctr"/>
            <a:r>
              <a:rPr lang="en-US" sz="3200" b="1" dirty="0">
                <a:latin typeface="Arial Rounded MT Bold" panose="020F0704030504030204" pitchFamily="34" charset="0"/>
              </a:rPr>
              <a:t>The Typical Afriment Learner</a:t>
            </a:r>
            <a:endParaRPr lang="en-US" sz="3200" dirty="0">
              <a:latin typeface="Arial Rounded MT Bold" panose="020F0704030504030204" pitchFamily="34" charset="0"/>
            </a:endParaRPr>
          </a:p>
          <a:p>
            <a:pPr algn="ctr"/>
            <a:r>
              <a:rPr lang="en-US" sz="2400" b="1" dirty="0"/>
              <a:t>The typical Afriment learner is currently a Lagos-based Nigerian female who discovered Afriment through LinkedIn. She's at the beginner-to- intermediate stage of her tech career and enrolled for the Virtual Assistant/ Customer Support.  </a:t>
            </a:r>
          </a:p>
        </p:txBody>
      </p:sp>
      <p:sp>
        <p:nvSpPr>
          <p:cNvPr id="13" name="TextBox 12">
            <a:extLst>
              <a:ext uri="{FF2B5EF4-FFF2-40B4-BE49-F238E27FC236}">
                <a16:creationId xmlns:a16="http://schemas.microsoft.com/office/drawing/2014/main" id="{7FA3D376-3150-405E-BFCC-58313BE1E88B}"/>
              </a:ext>
            </a:extLst>
          </p:cNvPr>
          <p:cNvSpPr txBox="1"/>
          <p:nvPr/>
        </p:nvSpPr>
        <p:spPr>
          <a:xfrm>
            <a:off x="280792" y="9364"/>
            <a:ext cx="2233808" cy="646331"/>
          </a:xfrm>
          <a:prstGeom prst="rect">
            <a:avLst/>
          </a:prstGeom>
          <a:noFill/>
        </p:spPr>
        <p:txBody>
          <a:bodyPr wrap="square" rtlCol="0">
            <a:spAutoFit/>
          </a:bodyPr>
          <a:lstStyle/>
          <a:p>
            <a:r>
              <a:rPr lang="en-US" sz="3600" b="1" u="sng" dirty="0">
                <a:latin typeface="+mj-lt"/>
              </a:rPr>
              <a:t>INSIGHTS</a:t>
            </a:r>
            <a:endParaRPr lang="en-US" sz="3600" u="sng" dirty="0">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D56165-534B-4113-8990-DE4DC1EF5968}"/>
              </a:ext>
            </a:extLst>
          </p:cNvPr>
          <p:cNvSpPr/>
          <p:nvPr/>
        </p:nvSpPr>
        <p:spPr>
          <a:xfrm>
            <a:off x="19050" y="-125260"/>
            <a:ext cx="18249900" cy="10287000"/>
          </a:xfrm>
          <a:prstGeom prst="rect">
            <a:avLst/>
          </a:prstGeom>
          <a:solidFill>
            <a:schemeClr val="bg2">
              <a:lumMod val="25000"/>
            </a:schemeClr>
          </a:solidFill>
          <a:scene3d>
            <a:camera prst="orthographicFront"/>
            <a:lightRig rig="threePt" dir="t"/>
          </a:scene3d>
          <a:sp3d>
            <a:bevelT w="101600" prst="rible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30">
            <a:extLst>
              <a:ext uri="{FF2B5EF4-FFF2-40B4-BE49-F238E27FC236}">
                <a16:creationId xmlns:a16="http://schemas.microsoft.com/office/drawing/2014/main" id="{4A8F8405-9B24-415F-9833-3D006B63AA3E}"/>
              </a:ext>
            </a:extLst>
          </p:cNvPr>
          <p:cNvSpPr txBox="1"/>
          <p:nvPr/>
        </p:nvSpPr>
        <p:spPr>
          <a:xfrm>
            <a:off x="-304800" y="-34089"/>
            <a:ext cx="10515600" cy="1298817"/>
          </a:xfrm>
          <a:prstGeom prst="rect">
            <a:avLst/>
          </a:prstGeom>
          <a:noFill/>
          <a:ln>
            <a:noFill/>
          </a:ln>
        </p:spPr>
        <p:style>
          <a:lnRef idx="0">
            <a:scrgbClr r="0" g="0" b="0"/>
          </a:lnRef>
          <a:fillRef idx="0">
            <a:scrgbClr r="0" g="0" b="0"/>
          </a:fillRef>
          <a:effectRef idx="0">
            <a:scrgbClr r="0" g="0" b="0"/>
          </a:effectRef>
          <a:fontRef idx="minor">
            <a:schemeClr val="lt1"/>
          </a:fontRef>
        </p:style>
        <p:txBody>
          <a:bodyPr wrap="square" lIns="0" tIns="0" rIns="0" bIns="0" rtlCol="0" anchor="t">
            <a:spAutoFit/>
          </a:bodyPr>
          <a:lstStyle/>
          <a:p>
            <a:pPr marL="0" lvl="0" indent="0" algn="ctr">
              <a:lnSpc>
                <a:spcPts val="11200"/>
              </a:lnSpc>
              <a:spcBef>
                <a:spcPct val="0"/>
              </a:spcBef>
            </a:pPr>
            <a:r>
              <a:rPr lang="en-US" sz="7200" b="1" dirty="0">
                <a:solidFill>
                  <a:srgbClr val="FFFFFF"/>
                </a:solidFill>
                <a:latin typeface="TT Interphases"/>
                <a:ea typeface="TT Interphases"/>
                <a:cs typeface="TT Interphases"/>
                <a:sym typeface="TT Interphases"/>
              </a:rPr>
              <a:t>BEHIND THE SCENE</a:t>
            </a:r>
          </a:p>
        </p:txBody>
      </p:sp>
      <p:sp>
        <p:nvSpPr>
          <p:cNvPr id="14" name="TextBox 34">
            <a:extLst>
              <a:ext uri="{FF2B5EF4-FFF2-40B4-BE49-F238E27FC236}">
                <a16:creationId xmlns:a16="http://schemas.microsoft.com/office/drawing/2014/main" id="{4CB015ED-903C-4D81-8DBB-F006186AFD5C}"/>
              </a:ext>
            </a:extLst>
          </p:cNvPr>
          <p:cNvSpPr txBox="1"/>
          <p:nvPr/>
        </p:nvSpPr>
        <p:spPr>
          <a:xfrm>
            <a:off x="914400" y="1638300"/>
            <a:ext cx="13716000" cy="430887"/>
          </a:xfrm>
          <a:prstGeom prst="rect">
            <a:avLst/>
          </a:prstGeom>
        </p:spPr>
        <p:txBody>
          <a:bodyPr wrap="square" lIns="0" tIns="0" rIns="0" bIns="0" rtlCol="0" anchor="t">
            <a:spAutoFit/>
          </a:bodyPr>
          <a:lstStyle/>
          <a:p>
            <a:pPr marL="0" lvl="0" indent="0" algn="l">
              <a:spcBef>
                <a:spcPct val="0"/>
              </a:spcBef>
            </a:pPr>
            <a:r>
              <a:rPr lang="en-US" sz="2800" b="1" dirty="0">
                <a:solidFill>
                  <a:srgbClr val="FFFFFF"/>
                </a:solidFill>
                <a:latin typeface="Microsoft YaHei" panose="020B0503020204020204" pitchFamily="34" charset="-122"/>
                <a:ea typeface="Microsoft YaHei" panose="020B0503020204020204" pitchFamily="34" charset="-122"/>
                <a:cs typeface="TT Interphases"/>
                <a:sym typeface="TT Interphases"/>
              </a:rPr>
              <a:t>The First Step was not building visuals; It was making the data useable…</a:t>
            </a:r>
          </a:p>
        </p:txBody>
      </p:sp>
      <p:sp>
        <p:nvSpPr>
          <p:cNvPr id="15" name="Rectangle: Rounded Corners 14">
            <a:extLst>
              <a:ext uri="{FF2B5EF4-FFF2-40B4-BE49-F238E27FC236}">
                <a16:creationId xmlns:a16="http://schemas.microsoft.com/office/drawing/2014/main" id="{A61DF906-8046-472B-85F8-C81FE303D6C6}"/>
              </a:ext>
            </a:extLst>
          </p:cNvPr>
          <p:cNvSpPr/>
          <p:nvPr/>
        </p:nvSpPr>
        <p:spPr>
          <a:xfrm>
            <a:off x="76200" y="1994374"/>
            <a:ext cx="9601200" cy="8254526"/>
          </a:xfrm>
          <a:prstGeom prst="roundRect">
            <a:avLst/>
          </a:prstGeom>
          <a:solidFill>
            <a:schemeClr val="tx1">
              <a:lumMod val="95000"/>
              <a:lumOff val="5000"/>
            </a:schemeClr>
          </a:solidFill>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6" name="Arrow: Right 15">
            <a:extLst>
              <a:ext uri="{FF2B5EF4-FFF2-40B4-BE49-F238E27FC236}">
                <a16:creationId xmlns:a16="http://schemas.microsoft.com/office/drawing/2014/main" id="{FE0B0C73-43DC-4FFF-B659-ED3381424C18}"/>
              </a:ext>
            </a:extLst>
          </p:cNvPr>
          <p:cNvSpPr/>
          <p:nvPr/>
        </p:nvSpPr>
        <p:spPr>
          <a:xfrm>
            <a:off x="1143000" y="2692165"/>
            <a:ext cx="457200" cy="3048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B97C06EE-0FD8-4880-BDC9-281A9DA3945E}"/>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77000"/>
                    </a14:imgEffect>
                  </a14:imgLayer>
                </a14:imgProps>
              </a:ext>
              <a:ext uri="{28A0092B-C50C-407E-A947-70E740481C1C}">
                <a14:useLocalDpi xmlns:a14="http://schemas.microsoft.com/office/drawing/2010/main" val="0"/>
              </a:ext>
            </a:extLst>
          </a:blip>
          <a:stretch>
            <a:fillRect/>
          </a:stretch>
        </p:blipFill>
        <p:spPr>
          <a:xfrm>
            <a:off x="5083342" y="1841974"/>
            <a:ext cx="10537658" cy="8254526"/>
          </a:xfrm>
          <a:prstGeom prst="rect">
            <a:avLst/>
          </a:prstGeom>
          <a:effectLst>
            <a:softEdge rad="635000"/>
          </a:effectLst>
        </p:spPr>
      </p:pic>
      <p:sp>
        <p:nvSpPr>
          <p:cNvPr id="17" name="TextBox 16">
            <a:extLst>
              <a:ext uri="{FF2B5EF4-FFF2-40B4-BE49-F238E27FC236}">
                <a16:creationId xmlns:a16="http://schemas.microsoft.com/office/drawing/2014/main" id="{20AB5850-1CAB-41B1-8ACA-9661B4BC7A7D}"/>
              </a:ext>
            </a:extLst>
          </p:cNvPr>
          <p:cNvSpPr txBox="1"/>
          <p:nvPr/>
        </p:nvSpPr>
        <p:spPr>
          <a:xfrm>
            <a:off x="1752600" y="2449757"/>
            <a:ext cx="12877800" cy="2862322"/>
          </a:xfrm>
          <a:prstGeom prst="rect">
            <a:avLst/>
          </a:prstGeom>
          <a:noFill/>
        </p:spPr>
        <p:txBody>
          <a:bodyPr wrap="square" rtlCol="0">
            <a:spAutoFit/>
          </a:bodyPr>
          <a:lstStyle/>
          <a:p>
            <a:r>
              <a:rPr lang="en-US" sz="4000" b="1" dirty="0">
                <a:solidFill>
                  <a:schemeClr val="bg1"/>
                </a:solidFill>
              </a:rPr>
              <a:t>Data Cleaning</a:t>
            </a:r>
          </a:p>
          <a:p>
            <a:r>
              <a:rPr lang="en-US" sz="2800" b="1" dirty="0">
                <a:solidFill>
                  <a:schemeClr val="bg1"/>
                </a:solidFill>
              </a:rPr>
              <a:t>8 Cohorts of waitlist and onboarding files were cleaned using Excel alongside Pod A.</a:t>
            </a:r>
          </a:p>
          <a:p>
            <a:pPr marL="285750" lvl="0" indent="-285750">
              <a:buFont typeface="Wingdings" panose="05000000000000000000" pitchFamily="2" charset="2"/>
              <a:buChar char="§"/>
            </a:pPr>
            <a:r>
              <a:rPr lang="en-US" sz="2800" b="1" dirty="0">
                <a:solidFill>
                  <a:schemeClr val="bg1"/>
                </a:solidFill>
              </a:rPr>
              <a:t>Removed duplicate rows/records.</a:t>
            </a:r>
          </a:p>
          <a:p>
            <a:pPr marL="285750" lvl="0" indent="-285750">
              <a:buFont typeface="Wingdings" panose="05000000000000000000" pitchFamily="2" charset="2"/>
              <a:buChar char="§"/>
            </a:pPr>
            <a:r>
              <a:rPr lang="en-US" sz="2800" b="1" dirty="0">
                <a:solidFill>
                  <a:schemeClr val="bg1"/>
                </a:solidFill>
              </a:rPr>
              <a:t>Fixed missing values.</a:t>
            </a:r>
          </a:p>
          <a:p>
            <a:pPr marL="285750" lvl="0" indent="-285750">
              <a:buFont typeface="Wingdings" panose="05000000000000000000" pitchFamily="2" charset="2"/>
              <a:buChar char="§"/>
            </a:pPr>
            <a:r>
              <a:rPr lang="en-US" sz="2800" b="1" dirty="0">
                <a:solidFill>
                  <a:schemeClr val="bg1"/>
                </a:solidFill>
              </a:rPr>
              <a:t>Corrected spelling errors.</a:t>
            </a:r>
          </a:p>
          <a:p>
            <a:pPr marL="285750" lvl="0" indent="-285750">
              <a:buFont typeface="Wingdings" panose="05000000000000000000" pitchFamily="2" charset="2"/>
              <a:buChar char="§"/>
            </a:pPr>
            <a:r>
              <a:rPr lang="en-US" sz="2800" b="1" dirty="0">
                <a:solidFill>
                  <a:schemeClr val="bg1"/>
                </a:solidFill>
              </a:rPr>
              <a:t>Standardized Columns, Titles, Countries, Full names.</a:t>
            </a:r>
            <a:endParaRPr lang="en-US" sz="2400" b="1" dirty="0">
              <a:solidFill>
                <a:schemeClr val="bg1"/>
              </a:solidFill>
            </a:endParaRPr>
          </a:p>
        </p:txBody>
      </p:sp>
      <p:sp>
        <p:nvSpPr>
          <p:cNvPr id="20" name="Arrow: Right 19">
            <a:extLst>
              <a:ext uri="{FF2B5EF4-FFF2-40B4-BE49-F238E27FC236}">
                <a16:creationId xmlns:a16="http://schemas.microsoft.com/office/drawing/2014/main" id="{CA0C82D9-1B90-4DBC-823B-1154D221CBC3}"/>
              </a:ext>
            </a:extLst>
          </p:cNvPr>
          <p:cNvSpPr/>
          <p:nvPr/>
        </p:nvSpPr>
        <p:spPr>
          <a:xfrm>
            <a:off x="1143000" y="5623464"/>
            <a:ext cx="457200" cy="304800"/>
          </a:xfrm>
          <a:prstGeom prst="rightArrow">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2B00CF1-C140-4449-89BC-774E134FE047}"/>
              </a:ext>
            </a:extLst>
          </p:cNvPr>
          <p:cNvSpPr txBox="1"/>
          <p:nvPr/>
        </p:nvSpPr>
        <p:spPr>
          <a:xfrm>
            <a:off x="1752600" y="5373634"/>
            <a:ext cx="9601200" cy="2431435"/>
          </a:xfrm>
          <a:prstGeom prst="rect">
            <a:avLst/>
          </a:prstGeom>
          <a:noFill/>
        </p:spPr>
        <p:txBody>
          <a:bodyPr wrap="square" rtlCol="0">
            <a:spAutoFit/>
          </a:bodyPr>
          <a:lstStyle/>
          <a:p>
            <a:r>
              <a:rPr lang="en-US" sz="4000" b="1" dirty="0">
                <a:solidFill>
                  <a:schemeClr val="bg1"/>
                </a:solidFill>
              </a:rPr>
              <a:t>Merging and Analysis</a:t>
            </a:r>
          </a:p>
          <a:p>
            <a:r>
              <a:rPr lang="en-US" sz="2800" b="1" dirty="0">
                <a:solidFill>
                  <a:schemeClr val="bg1"/>
                </a:solidFill>
              </a:rPr>
              <a:t>The waitlist and onboarding files of each Cohort was merged with SQL in other to capture variables like gender, country, program interest, knowledge level. They were analyzed and visualized with Excel, Microsoft PowerBI, Looker studio.</a:t>
            </a:r>
          </a:p>
        </p:txBody>
      </p:sp>
      <p:sp>
        <p:nvSpPr>
          <p:cNvPr id="22" name="Arrow: Right 21">
            <a:extLst>
              <a:ext uri="{FF2B5EF4-FFF2-40B4-BE49-F238E27FC236}">
                <a16:creationId xmlns:a16="http://schemas.microsoft.com/office/drawing/2014/main" id="{19DB3145-DD7A-48FA-82F6-17D6B386BA04}"/>
              </a:ext>
            </a:extLst>
          </p:cNvPr>
          <p:cNvSpPr/>
          <p:nvPr/>
        </p:nvSpPr>
        <p:spPr>
          <a:xfrm>
            <a:off x="1143000" y="8150374"/>
            <a:ext cx="457200" cy="304800"/>
          </a:xfrm>
          <a:prstGeom prst="rightArrow">
            <a:avLst>
              <a:gd name="adj1" fmla="val 50000"/>
              <a:gd name="adj2"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E280598-5A1A-46AE-97AA-5BEDA0A428C5}"/>
              </a:ext>
            </a:extLst>
          </p:cNvPr>
          <p:cNvSpPr txBox="1"/>
          <p:nvPr/>
        </p:nvSpPr>
        <p:spPr>
          <a:xfrm>
            <a:off x="1752600" y="7890658"/>
            <a:ext cx="10972800" cy="1569660"/>
          </a:xfrm>
          <a:prstGeom prst="rect">
            <a:avLst/>
          </a:prstGeom>
          <a:noFill/>
        </p:spPr>
        <p:txBody>
          <a:bodyPr wrap="square" rtlCol="0">
            <a:spAutoFit/>
          </a:bodyPr>
          <a:lstStyle/>
          <a:p>
            <a:r>
              <a:rPr lang="en-US" sz="4000" b="1" dirty="0">
                <a:solidFill>
                  <a:schemeClr val="bg1"/>
                </a:solidFill>
              </a:rPr>
              <a:t>Peer Review Across Pods</a:t>
            </a:r>
            <a:endParaRPr lang="en-US" b="1" dirty="0">
              <a:solidFill>
                <a:schemeClr val="bg1"/>
              </a:solidFill>
            </a:endParaRPr>
          </a:p>
          <a:p>
            <a:r>
              <a:rPr lang="en-US" sz="2800" b="1" dirty="0">
                <a:solidFill>
                  <a:schemeClr val="bg1"/>
                </a:solidFill>
              </a:rPr>
              <a:t>The Learner Profile report was reviewed by Pod C and Pod D representatives. The Feedbacks were effected.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4038599"/>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tx1">
              <a:lumMod val="95000"/>
              <a:lumOff val="5000"/>
            </a:schemeClr>
          </a:solidFill>
          <a:scene3d>
            <a:camera prst="orthographicFront"/>
            <a:lightRig rig="threePt" dir="t"/>
          </a:scene3d>
          <a:sp3d>
            <a:bevelT w="101600" prst="riblet"/>
          </a:sp3d>
        </p:spPr>
      </p:sp>
      <p:pic>
        <p:nvPicPr>
          <p:cNvPr id="5" name="Picture 4">
            <a:extLst>
              <a:ext uri="{FF2B5EF4-FFF2-40B4-BE49-F238E27FC236}">
                <a16:creationId xmlns:a16="http://schemas.microsoft.com/office/drawing/2014/main" id="{ED34B5AB-B6F8-48A2-ABCF-2B7C2A0E62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 y="-114300"/>
            <a:ext cx="17259300" cy="9963876"/>
          </a:xfrm>
          <a:prstGeom prst="rect">
            <a:avLst/>
          </a:prstGeom>
          <a:effectLst>
            <a:softEdge rad="635000"/>
          </a:effectLst>
        </p:spPr>
      </p:pic>
      <p:sp>
        <p:nvSpPr>
          <p:cNvPr id="3" name="TextBox 2">
            <a:extLst>
              <a:ext uri="{FF2B5EF4-FFF2-40B4-BE49-F238E27FC236}">
                <a16:creationId xmlns:a16="http://schemas.microsoft.com/office/drawing/2014/main" id="{E653AE9A-8470-4857-B752-2B5CD76A336F}"/>
              </a:ext>
            </a:extLst>
          </p:cNvPr>
          <p:cNvSpPr txBox="1"/>
          <p:nvPr/>
        </p:nvSpPr>
        <p:spPr>
          <a:xfrm>
            <a:off x="8591550" y="7810500"/>
            <a:ext cx="8689051" cy="1569660"/>
          </a:xfrm>
          <a:prstGeom prst="rect">
            <a:avLst/>
          </a:prstGeom>
          <a:noFill/>
        </p:spPr>
        <p:txBody>
          <a:bodyPr wrap="square" rtlCol="0">
            <a:spAutoFit/>
          </a:bodyPr>
          <a:lstStyle/>
          <a:p>
            <a:r>
              <a:rPr lang="en-US" sz="4800" b="1" spc="50" dirty="0">
                <a:ln w="0"/>
                <a:solidFill>
                  <a:schemeClr val="bg2"/>
                </a:solidFill>
                <a:effectLst>
                  <a:innerShdw blurRad="63500" dist="50800" dir="13500000">
                    <a:srgbClr val="000000">
                      <a:alpha val="50000"/>
                    </a:srgbClr>
                  </a:innerShdw>
                </a:effectLst>
                <a:latin typeface="Microsoft PhagsPa" panose="020B0502040204020203" pitchFamily="34" charset="0"/>
              </a:rPr>
              <a:t>WHAT SHOULD AFRIMENT DO NEXT ?</a:t>
            </a:r>
          </a:p>
        </p:txBody>
      </p:sp>
    </p:spTree>
  </p:cSld>
  <p:clrMapOvr>
    <a:masterClrMapping/>
  </p:clrMapOvr>
  <mc:AlternateContent xmlns:mc="http://schemas.openxmlformats.org/markup-compatibility/2006" xmlns:p14="http://schemas.microsoft.com/office/powerpoint/2010/main">
    <mc:Choice Requires="p14">
      <p:transition spd="slow" p14:dur="4000">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4038599"/>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bg1">
              <a:lumMod val="75000"/>
            </a:schemeClr>
          </a:solidFill>
          <a:scene3d>
            <a:camera prst="orthographicFront"/>
            <a:lightRig rig="threePt" dir="t"/>
          </a:scene3d>
          <a:sp3d>
            <a:bevelT w="101600" prst="riblet"/>
          </a:sp3d>
        </p:spPr>
        <p:txBody>
          <a:bodyPr/>
          <a:lstStyle/>
          <a:p>
            <a:endParaRPr lang="en-US" dirty="0"/>
          </a:p>
        </p:txBody>
      </p:sp>
      <p:sp>
        <p:nvSpPr>
          <p:cNvPr id="89" name="TextBox 19">
            <a:extLst>
              <a:ext uri="{FF2B5EF4-FFF2-40B4-BE49-F238E27FC236}">
                <a16:creationId xmlns:a16="http://schemas.microsoft.com/office/drawing/2014/main" id="{25F915D3-5621-43D7-AB9C-06348F54621B}"/>
              </a:ext>
            </a:extLst>
          </p:cNvPr>
          <p:cNvSpPr txBox="1"/>
          <p:nvPr/>
        </p:nvSpPr>
        <p:spPr>
          <a:xfrm>
            <a:off x="9582803" y="822303"/>
            <a:ext cx="8757982" cy="3257404"/>
          </a:xfrm>
          <a:prstGeom prst="rect">
            <a:avLst/>
          </a:prstGeom>
        </p:spPr>
        <p:txBody>
          <a:bodyPr lIns="50800" tIns="50800" rIns="50800" bIns="50800" rtlCol="0" anchor="ctr"/>
          <a:lstStyle/>
          <a:p>
            <a:pPr algn="ctr">
              <a:lnSpc>
                <a:spcPts val="2800"/>
              </a:lnSpc>
            </a:pPr>
            <a:endParaRPr/>
          </a:p>
        </p:txBody>
      </p:sp>
      <p:pic>
        <p:nvPicPr>
          <p:cNvPr id="9" name="Picture 8">
            <a:extLst>
              <a:ext uri="{FF2B5EF4-FFF2-40B4-BE49-F238E27FC236}">
                <a16:creationId xmlns:a16="http://schemas.microsoft.com/office/drawing/2014/main" id="{1F254327-0B18-486A-B223-3D9071606F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9000" y="-112622"/>
            <a:ext cx="6019800" cy="3381170"/>
          </a:xfrm>
          <a:prstGeom prst="rect">
            <a:avLst/>
          </a:prstGeom>
          <a:effectLst>
            <a:softEdge rad="317500"/>
          </a:effectLst>
        </p:spPr>
      </p:pic>
      <p:sp>
        <p:nvSpPr>
          <p:cNvPr id="3" name="TextBox 2">
            <a:extLst>
              <a:ext uri="{FF2B5EF4-FFF2-40B4-BE49-F238E27FC236}">
                <a16:creationId xmlns:a16="http://schemas.microsoft.com/office/drawing/2014/main" id="{18224F2A-4E5C-4C08-A898-0C85C74B3642}"/>
              </a:ext>
            </a:extLst>
          </p:cNvPr>
          <p:cNvSpPr txBox="1"/>
          <p:nvPr/>
        </p:nvSpPr>
        <p:spPr>
          <a:xfrm>
            <a:off x="75157" y="1883576"/>
            <a:ext cx="15515898" cy="2062103"/>
          </a:xfrm>
          <a:prstGeom prst="rect">
            <a:avLst/>
          </a:prstGeom>
          <a:noFill/>
        </p:spPr>
        <p:txBody>
          <a:bodyPr wrap="square" rtlCol="0">
            <a:spAutoFit/>
          </a:bodyPr>
          <a:lstStyle/>
          <a:p>
            <a:r>
              <a:rPr lang="en-GB" sz="4400" b="1" dirty="0"/>
              <a:t>Expand into Ghana before wider African reach</a:t>
            </a:r>
            <a:endParaRPr lang="en-US" sz="4400" b="1" dirty="0"/>
          </a:p>
          <a:p>
            <a:r>
              <a:rPr lang="en-GB" sz="2800" b="1" dirty="0"/>
              <a:t>Strategically expand, with focus  on Ghana and Kenya as a pilot market. Gather detailed feedback from Ghanaian, Kenyan alumni through questionnaires to understand their experience, identify reasons for declining participation, and use their suggestions to improve future outreach.</a:t>
            </a:r>
            <a:endParaRPr lang="en-US" sz="2800" b="1" dirty="0"/>
          </a:p>
        </p:txBody>
      </p:sp>
      <p:pic>
        <p:nvPicPr>
          <p:cNvPr id="11" name="Picture 10">
            <a:extLst>
              <a:ext uri="{FF2B5EF4-FFF2-40B4-BE49-F238E27FC236}">
                <a16:creationId xmlns:a16="http://schemas.microsoft.com/office/drawing/2014/main" id="{2DF9B97B-8CCE-4765-8D2A-DD0696946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5753100"/>
            <a:ext cx="6400800" cy="3156881"/>
          </a:xfrm>
          <a:prstGeom prst="rect">
            <a:avLst/>
          </a:prstGeom>
          <a:effectLst>
            <a:softEdge rad="317500"/>
          </a:effectLst>
        </p:spPr>
      </p:pic>
      <p:sp>
        <p:nvSpPr>
          <p:cNvPr id="5" name="TextBox 4">
            <a:extLst>
              <a:ext uri="{FF2B5EF4-FFF2-40B4-BE49-F238E27FC236}">
                <a16:creationId xmlns:a16="http://schemas.microsoft.com/office/drawing/2014/main" id="{BCAAAFE6-290D-4230-A8C1-C4AAE18E159D}"/>
              </a:ext>
            </a:extLst>
          </p:cNvPr>
          <p:cNvSpPr txBox="1"/>
          <p:nvPr/>
        </p:nvSpPr>
        <p:spPr>
          <a:xfrm>
            <a:off x="1716066" y="8048489"/>
            <a:ext cx="14971734" cy="2048011"/>
          </a:xfrm>
          <a:prstGeom prst="rect">
            <a:avLst/>
          </a:prstGeom>
          <a:noFill/>
        </p:spPr>
        <p:txBody>
          <a:bodyPr wrap="square" rtlCol="0">
            <a:spAutoFit/>
          </a:bodyPr>
          <a:lstStyle/>
          <a:p>
            <a:r>
              <a:rPr lang="en-GB" sz="4400" b="1" dirty="0"/>
              <a:t>Increase visibility of technical programs</a:t>
            </a:r>
            <a:endParaRPr lang="en-US" sz="4400" b="1" dirty="0"/>
          </a:p>
          <a:p>
            <a:r>
              <a:rPr lang="en-GB" sz="2800" b="1" dirty="0"/>
              <a:t>Promote lower-enrolment programs like Software Engineering, AI, and Cybersecurity through industry partnerships and career-focused campaigns like hackathons. Show clear career opportunities to make these programs more appealing to prospective learners.</a:t>
            </a:r>
            <a:endParaRPr lang="en-US" sz="2800" b="1" dirty="0"/>
          </a:p>
        </p:txBody>
      </p:sp>
      <p:sp>
        <p:nvSpPr>
          <p:cNvPr id="8" name="TextBox 7">
            <a:extLst>
              <a:ext uri="{FF2B5EF4-FFF2-40B4-BE49-F238E27FC236}">
                <a16:creationId xmlns:a16="http://schemas.microsoft.com/office/drawing/2014/main" id="{58C37B37-359C-4BBF-9D7F-1C198F16690C}"/>
              </a:ext>
            </a:extLst>
          </p:cNvPr>
          <p:cNvSpPr txBox="1"/>
          <p:nvPr/>
        </p:nvSpPr>
        <p:spPr>
          <a:xfrm>
            <a:off x="6044852" y="4519668"/>
            <a:ext cx="11023948" cy="2071632"/>
          </a:xfrm>
          <a:prstGeom prst="rect">
            <a:avLst/>
          </a:prstGeom>
          <a:noFill/>
        </p:spPr>
        <p:txBody>
          <a:bodyPr wrap="square" rtlCol="0">
            <a:spAutoFit/>
          </a:bodyPr>
          <a:lstStyle/>
          <a:p>
            <a:r>
              <a:rPr lang="en-GB" sz="4400" b="1" dirty="0"/>
              <a:t>Create platform-specific social media content</a:t>
            </a:r>
            <a:endParaRPr lang="en-US" sz="4400" b="1" dirty="0"/>
          </a:p>
          <a:p>
            <a:r>
              <a:rPr lang="en-GB" sz="2800" b="1" dirty="0"/>
              <a:t>Develop engaging short-form content for Instagram, TikTok and Facebook. Tailoring content to each platform can improve reach and attract younger audience.</a:t>
            </a:r>
            <a:endParaRPr lang="en-US"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4000500" y="-4038599"/>
            <a:ext cx="10287000" cy="18288000"/>
          </a:xfrm>
          <a:custGeom>
            <a:avLst/>
            <a:gdLst/>
            <a:ahLst/>
            <a:cxnLst/>
            <a:rect l="l" t="t" r="r" b="b"/>
            <a:pathLst>
              <a:path w="10287000" h="18288000">
                <a:moveTo>
                  <a:pt x="10287000" y="0"/>
                </a:moveTo>
                <a:lnTo>
                  <a:pt x="10287000" y="18288000"/>
                </a:lnTo>
                <a:lnTo>
                  <a:pt x="0" y="18288000"/>
                </a:lnTo>
                <a:lnTo>
                  <a:pt x="0" y="0"/>
                </a:lnTo>
                <a:lnTo>
                  <a:pt x="10287000" y="0"/>
                </a:lnTo>
                <a:close/>
              </a:path>
            </a:pathLst>
          </a:custGeom>
          <a:solidFill>
            <a:schemeClr val="bg1">
              <a:lumMod val="75000"/>
            </a:schemeClr>
          </a:solidFill>
          <a:scene3d>
            <a:camera prst="orthographicFront"/>
            <a:lightRig rig="threePt" dir="t"/>
          </a:scene3d>
          <a:sp3d>
            <a:bevelT w="101600" prst="riblet"/>
          </a:sp3d>
        </p:spPr>
        <p:txBody>
          <a:bodyPr/>
          <a:lstStyle/>
          <a:p>
            <a:endParaRPr lang="en-US" dirty="0"/>
          </a:p>
        </p:txBody>
      </p:sp>
      <p:sp>
        <p:nvSpPr>
          <p:cNvPr id="89" name="TextBox 19">
            <a:extLst>
              <a:ext uri="{FF2B5EF4-FFF2-40B4-BE49-F238E27FC236}">
                <a16:creationId xmlns:a16="http://schemas.microsoft.com/office/drawing/2014/main" id="{25F915D3-5621-43D7-AB9C-06348F54621B}"/>
              </a:ext>
            </a:extLst>
          </p:cNvPr>
          <p:cNvSpPr txBox="1"/>
          <p:nvPr/>
        </p:nvSpPr>
        <p:spPr>
          <a:xfrm>
            <a:off x="9582803" y="822303"/>
            <a:ext cx="8757982" cy="3257404"/>
          </a:xfrm>
          <a:prstGeom prst="rect">
            <a:avLst/>
          </a:prstGeom>
        </p:spPr>
        <p:txBody>
          <a:bodyPr lIns="50800" tIns="50800" rIns="50800" bIns="50800" rtlCol="0" anchor="ctr"/>
          <a:lstStyle/>
          <a:p>
            <a:pPr algn="ctr">
              <a:lnSpc>
                <a:spcPts val="2800"/>
              </a:lnSpc>
            </a:pPr>
            <a:endParaRPr/>
          </a:p>
        </p:txBody>
      </p:sp>
      <p:sp>
        <p:nvSpPr>
          <p:cNvPr id="7" name="TextBox 6">
            <a:extLst>
              <a:ext uri="{FF2B5EF4-FFF2-40B4-BE49-F238E27FC236}">
                <a16:creationId xmlns:a16="http://schemas.microsoft.com/office/drawing/2014/main" id="{BC155615-47F6-4397-9D18-47FD63375D20}"/>
              </a:ext>
            </a:extLst>
          </p:cNvPr>
          <p:cNvSpPr txBox="1"/>
          <p:nvPr/>
        </p:nvSpPr>
        <p:spPr>
          <a:xfrm>
            <a:off x="304800" y="222138"/>
            <a:ext cx="16002000" cy="1200329"/>
          </a:xfrm>
          <a:prstGeom prst="rect">
            <a:avLst/>
          </a:prstGeom>
          <a:noFill/>
        </p:spPr>
        <p:txBody>
          <a:bodyPr wrap="square" rtlCol="0">
            <a:spAutoFit/>
          </a:bodyPr>
          <a:lstStyle/>
          <a:p>
            <a:r>
              <a:rPr lang="en-GB" sz="4400" b="1" dirty="0"/>
              <a:t>Strengthen referral strategies</a:t>
            </a:r>
            <a:endParaRPr lang="en-US" sz="4400" b="1" dirty="0"/>
          </a:p>
          <a:p>
            <a:r>
              <a:rPr lang="en-GB" sz="2800" b="1" dirty="0"/>
              <a:t>Leverage alumni testimonials and referral programs to increase awareness across social media platforms. </a:t>
            </a:r>
            <a:endParaRPr lang="en-US" sz="2800" b="1" dirty="0"/>
          </a:p>
        </p:txBody>
      </p:sp>
      <p:pic>
        <p:nvPicPr>
          <p:cNvPr id="11" name="Picture 10">
            <a:extLst>
              <a:ext uri="{FF2B5EF4-FFF2-40B4-BE49-F238E27FC236}">
                <a16:creationId xmlns:a16="http://schemas.microsoft.com/office/drawing/2014/main" id="{37C7BF7B-EA3E-425E-99E1-9FAA5AC443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39547" y="4797183"/>
            <a:ext cx="3896053" cy="2606918"/>
          </a:xfrm>
          <a:prstGeom prst="rect">
            <a:avLst/>
          </a:prstGeom>
          <a:effectLst>
            <a:softEdge rad="635000"/>
          </a:effectLst>
        </p:spPr>
      </p:pic>
      <p:pic>
        <p:nvPicPr>
          <p:cNvPr id="9" name="Picture 8">
            <a:extLst>
              <a:ext uri="{FF2B5EF4-FFF2-40B4-BE49-F238E27FC236}">
                <a16:creationId xmlns:a16="http://schemas.microsoft.com/office/drawing/2014/main" id="{5D33A1DC-49E9-481E-8257-2180506ADB80}"/>
              </a:ext>
            </a:extLst>
          </p:cNvPr>
          <p:cNvPicPr>
            <a:picLocks noChangeAspect="1"/>
          </p:cNvPicPr>
          <p:nvPr/>
        </p:nvPicPr>
        <p:blipFill>
          <a:blip r:embed="rId3" cstate="print">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13961794" y="7611388"/>
            <a:ext cx="4267200" cy="2844800"/>
          </a:xfrm>
          <a:prstGeom prst="rect">
            <a:avLst/>
          </a:prstGeom>
          <a:effectLst>
            <a:softEdge rad="635000"/>
          </a:effectLst>
        </p:spPr>
      </p:pic>
      <p:sp>
        <p:nvSpPr>
          <p:cNvPr id="8" name="TextBox 7">
            <a:extLst>
              <a:ext uri="{FF2B5EF4-FFF2-40B4-BE49-F238E27FC236}">
                <a16:creationId xmlns:a16="http://schemas.microsoft.com/office/drawing/2014/main" id="{9F668363-666D-4135-8BDE-6DA1804F1FF0}"/>
              </a:ext>
            </a:extLst>
          </p:cNvPr>
          <p:cNvSpPr txBox="1"/>
          <p:nvPr/>
        </p:nvSpPr>
        <p:spPr>
          <a:xfrm>
            <a:off x="914400" y="5628587"/>
            <a:ext cx="16535400" cy="2492990"/>
          </a:xfrm>
          <a:prstGeom prst="rect">
            <a:avLst/>
          </a:prstGeom>
          <a:noFill/>
        </p:spPr>
        <p:txBody>
          <a:bodyPr wrap="square" rtlCol="0">
            <a:spAutoFit/>
          </a:bodyPr>
          <a:lstStyle/>
          <a:p>
            <a:r>
              <a:rPr lang="en-GB" sz="4400" b="1" dirty="0"/>
              <a:t>Brand Repositioning and Partnerships</a:t>
            </a:r>
            <a:endParaRPr lang="en-US" sz="4400" dirty="0"/>
          </a:p>
          <a:p>
            <a:r>
              <a:rPr lang="en-GB" sz="2800" b="1" dirty="0"/>
              <a:t>Review the current brand identity across all official pages and websites, to ensure potential partners do not misread who Afriment is. </a:t>
            </a:r>
            <a:endParaRPr lang="en-US" sz="2800" b="1" dirty="0"/>
          </a:p>
          <a:p>
            <a:r>
              <a:rPr lang="en-GB" sz="2800" b="1" dirty="0"/>
              <a:t>Then partner with universities and male-focused tech communities to increase awareness and encourage more gender balanced enrolment across all programs.</a:t>
            </a:r>
            <a:endParaRPr lang="en-US" sz="2800" b="1" dirty="0"/>
          </a:p>
        </p:txBody>
      </p:sp>
      <p:pic>
        <p:nvPicPr>
          <p:cNvPr id="4" name="Picture 3">
            <a:extLst>
              <a:ext uri="{FF2B5EF4-FFF2-40B4-BE49-F238E27FC236}">
                <a16:creationId xmlns:a16="http://schemas.microsoft.com/office/drawing/2014/main" id="{E7217429-4800-4355-AFD7-AF14E813CC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9714" y="1507340"/>
            <a:ext cx="4724400" cy="33404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890523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38599"/>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solidFill>
            <a:schemeClr val="bg2">
              <a:lumMod val="25000"/>
            </a:schemeClr>
          </a:solidFill>
          <a:scene3d>
            <a:camera prst="orthographicFront"/>
            <a:lightRig rig="threePt" dir="t"/>
          </a:scene3d>
          <a:sp3d>
            <a:bevelT w="101600" prst="riblet"/>
          </a:sp3d>
        </p:spPr>
        <p:txBody>
          <a:bodyPr/>
          <a:lstStyle/>
          <a:p>
            <a:endParaRPr lang="en-US" dirty="0"/>
          </a:p>
        </p:txBody>
      </p:sp>
      <p:sp>
        <p:nvSpPr>
          <p:cNvPr id="3" name="Rectangle: Rounded Corners 2">
            <a:extLst>
              <a:ext uri="{FF2B5EF4-FFF2-40B4-BE49-F238E27FC236}">
                <a16:creationId xmlns:a16="http://schemas.microsoft.com/office/drawing/2014/main" id="{C9D025D6-57E3-4CD0-BF1A-6BCBD1A9010A}"/>
              </a:ext>
            </a:extLst>
          </p:cNvPr>
          <p:cNvSpPr/>
          <p:nvPr/>
        </p:nvSpPr>
        <p:spPr>
          <a:xfrm>
            <a:off x="2893512" y="1265129"/>
            <a:ext cx="12460788" cy="7726471"/>
          </a:xfrm>
          <a:prstGeom prst="roundRect">
            <a:avLst/>
          </a:prstGeom>
          <a:solidFill>
            <a:schemeClr val="tx1">
              <a:lumMod val="95000"/>
              <a:lumOff val="5000"/>
            </a:schemeClr>
          </a:solidFill>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b="1" dirty="0"/>
              <a:t>CHALLENGE</a:t>
            </a:r>
          </a:p>
          <a:p>
            <a:pPr algn="ctr"/>
            <a:r>
              <a:rPr lang="en-US" sz="6000" b="1" dirty="0"/>
              <a:t>The available dataset did not contain enough information for the current decline in Ghanaian participation.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000500" y="-4000500"/>
            <a:ext cx="10287000" cy="18288000"/>
          </a:xfrm>
          <a:custGeom>
            <a:avLst/>
            <a:gdLst/>
            <a:ahLst/>
            <a:cxnLst/>
            <a:rect l="l" t="t" r="r" b="b"/>
            <a:pathLst>
              <a:path w="10287000" h="18288000">
                <a:moveTo>
                  <a:pt x="0" y="18288000"/>
                </a:moveTo>
                <a:lnTo>
                  <a:pt x="0" y="0"/>
                </a:lnTo>
                <a:lnTo>
                  <a:pt x="10287000" y="0"/>
                </a:lnTo>
                <a:lnTo>
                  <a:pt x="10287000" y="18288000"/>
                </a:lnTo>
                <a:lnTo>
                  <a:pt x="0" y="18288000"/>
                </a:lnTo>
                <a:close/>
              </a:path>
            </a:pathLst>
          </a:custGeom>
          <a:solidFill>
            <a:schemeClr val="bg2">
              <a:lumMod val="25000"/>
            </a:schemeClr>
          </a:solidFill>
          <a:scene3d>
            <a:camera prst="orthographicFront"/>
            <a:lightRig rig="threePt" dir="t"/>
          </a:scene3d>
          <a:sp3d>
            <a:bevelT w="101600" prst="riblet"/>
          </a:sp3d>
        </p:spPr>
        <p:txBody>
          <a:bodyPr/>
          <a:lstStyle/>
          <a:p>
            <a:endParaRPr lang="en-US" dirty="0"/>
          </a:p>
        </p:txBody>
      </p:sp>
      <p:sp>
        <p:nvSpPr>
          <p:cNvPr id="8" name="Rectangle: Rounded Corners 7">
            <a:extLst>
              <a:ext uri="{FF2B5EF4-FFF2-40B4-BE49-F238E27FC236}">
                <a16:creationId xmlns:a16="http://schemas.microsoft.com/office/drawing/2014/main" id="{C7236932-9D68-44AF-9B59-766606DC7D92}"/>
              </a:ext>
            </a:extLst>
          </p:cNvPr>
          <p:cNvSpPr/>
          <p:nvPr/>
        </p:nvSpPr>
        <p:spPr>
          <a:xfrm>
            <a:off x="609600" y="800100"/>
            <a:ext cx="14057334" cy="7989518"/>
          </a:xfrm>
          <a:prstGeom prst="roundRect">
            <a:avLst/>
          </a:prstGeom>
          <a:solidFill>
            <a:schemeClr val="tx1">
              <a:lumMod val="95000"/>
              <a:lumOff val="5000"/>
            </a:schemeClr>
          </a:solidFill>
          <a:effectLst>
            <a:softEdge rad="635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600" b="1" dirty="0"/>
              <a:t>APPRECIATION</a:t>
            </a:r>
          </a:p>
          <a:p>
            <a:pPr algn="ctr"/>
            <a:r>
              <a:rPr lang="en-US" sz="3200" b="1" dirty="0"/>
              <a:t>Our heartfelt gratitude goes to Afriment for giving us the platform to learn, grow and gain hands-on experience. Thank you for your guidance; every lesson and feedback has shaped us into better professionals.</a:t>
            </a:r>
          </a:p>
          <a:p>
            <a:pPr algn="ctr"/>
            <a:r>
              <a:rPr lang="en-US" sz="3200" b="1" dirty="0"/>
              <a:t>To our Teammates, thank you for putting in the effort; the shared commitment and doggedness is applaudable.</a:t>
            </a:r>
          </a:p>
        </p:txBody>
      </p:sp>
      <p:grpSp>
        <p:nvGrpSpPr>
          <p:cNvPr id="12" name="Group 20">
            <a:extLst>
              <a:ext uri="{FF2B5EF4-FFF2-40B4-BE49-F238E27FC236}">
                <a16:creationId xmlns:a16="http://schemas.microsoft.com/office/drawing/2014/main" id="{EDDF863E-9501-40AF-8E35-31498A4CF925}"/>
              </a:ext>
            </a:extLst>
          </p:cNvPr>
          <p:cNvGrpSpPr/>
          <p:nvPr/>
        </p:nvGrpSpPr>
        <p:grpSpPr>
          <a:xfrm>
            <a:off x="8305800" y="7124700"/>
            <a:ext cx="4267200" cy="702116"/>
            <a:chOff x="0" y="-47625"/>
            <a:chExt cx="1147983" cy="228303"/>
          </a:xfrm>
          <a:noFill/>
        </p:grpSpPr>
        <p:sp>
          <p:nvSpPr>
            <p:cNvPr id="13" name="Freeform 21">
              <a:extLst>
                <a:ext uri="{FF2B5EF4-FFF2-40B4-BE49-F238E27FC236}">
                  <a16:creationId xmlns:a16="http://schemas.microsoft.com/office/drawing/2014/main" id="{DD1EFD0F-8D4B-42AB-9752-D75035740FFD}"/>
                </a:ext>
              </a:extLst>
            </p:cNvPr>
            <p:cNvSpPr/>
            <p:nvPr/>
          </p:nvSpPr>
          <p:spPr>
            <a:xfrm>
              <a:off x="450993" y="-37722"/>
              <a:ext cx="696990" cy="152685"/>
            </a:xfrm>
            <a:custGeom>
              <a:avLst/>
              <a:gdLst/>
              <a:ahLst/>
              <a:cxnLst/>
              <a:rect l="l" t="t" r="r" b="b"/>
              <a:pathLst>
                <a:path w="696990" h="180678">
                  <a:moveTo>
                    <a:pt x="44639" y="0"/>
                  </a:moveTo>
                  <a:lnTo>
                    <a:pt x="652350" y="0"/>
                  </a:lnTo>
                  <a:cubicBezTo>
                    <a:pt x="677004" y="0"/>
                    <a:pt x="696990" y="19986"/>
                    <a:pt x="696990" y="44639"/>
                  </a:cubicBezTo>
                  <a:lnTo>
                    <a:pt x="696990" y="136039"/>
                  </a:lnTo>
                  <a:cubicBezTo>
                    <a:pt x="696990" y="160693"/>
                    <a:pt x="677004" y="180678"/>
                    <a:pt x="652350" y="180678"/>
                  </a:cubicBezTo>
                  <a:lnTo>
                    <a:pt x="44639" y="180678"/>
                  </a:lnTo>
                  <a:cubicBezTo>
                    <a:pt x="19986" y="180678"/>
                    <a:pt x="0" y="160693"/>
                    <a:pt x="0" y="136039"/>
                  </a:cubicBezTo>
                  <a:lnTo>
                    <a:pt x="0" y="44639"/>
                  </a:lnTo>
                  <a:cubicBezTo>
                    <a:pt x="0" y="19986"/>
                    <a:pt x="19986" y="0"/>
                    <a:pt x="44639" y="0"/>
                  </a:cubicBezTo>
                  <a:close/>
                </a:path>
              </a:pathLst>
            </a:custGeom>
            <a:grpFill/>
          </p:spPr>
          <p:txBody>
            <a:bodyPr/>
            <a:lstStyle/>
            <a:p>
              <a:pPr algn="ctr"/>
              <a:r>
                <a:rPr lang="en-US" sz="3200" b="1" dirty="0">
                  <a:solidFill>
                    <a:schemeClr val="bg1"/>
                  </a:solidFill>
                </a:rPr>
                <a:t>THANK YOU !</a:t>
              </a:r>
            </a:p>
          </p:txBody>
        </p:sp>
        <p:sp>
          <p:nvSpPr>
            <p:cNvPr id="14" name="TextBox 22">
              <a:extLst>
                <a:ext uri="{FF2B5EF4-FFF2-40B4-BE49-F238E27FC236}">
                  <a16:creationId xmlns:a16="http://schemas.microsoft.com/office/drawing/2014/main" id="{82B591EE-48A5-4AEE-A4EC-D2E0F42B37B1}"/>
                </a:ext>
              </a:extLst>
            </p:cNvPr>
            <p:cNvSpPr txBox="1"/>
            <p:nvPr/>
          </p:nvSpPr>
          <p:spPr>
            <a:xfrm>
              <a:off x="0" y="-47625"/>
              <a:ext cx="696990" cy="228303"/>
            </a:xfrm>
            <a:prstGeom prst="rect">
              <a:avLst/>
            </a:prstGeom>
            <a:grpFill/>
          </p:spPr>
          <p:txBody>
            <a:bodyPr lIns="50800" tIns="50800" rIns="50800" bIns="50800" rtlCol="0" anchor="ctr"/>
            <a:lstStyle/>
            <a:p>
              <a:pPr algn="ctr">
                <a:lnSpc>
                  <a:spcPts val="280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PodB_Week3_Presentation</Template>
  <TotalTime>754</TotalTime>
  <Words>841</Words>
  <Application>Microsoft Office PowerPoint</Application>
  <PresentationFormat>Custom</PresentationFormat>
  <Paragraphs>67</Paragraphs>
  <Slides>11</Slides>
  <Notes>3</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Righteousness Okpara</dc:creator>
  <cp:lastModifiedBy>obianuju duru</cp:lastModifiedBy>
  <cp:revision>41</cp:revision>
  <dcterms:created xsi:type="dcterms:W3CDTF">2026-07-29T20:40:56Z</dcterms:created>
  <dcterms:modified xsi:type="dcterms:W3CDTF">2026-08-07T12:48:57Z</dcterms:modified>
  <dc:identifier>DAHPXfBAf4I</dc:identifier>
</cp:coreProperties>
</file>