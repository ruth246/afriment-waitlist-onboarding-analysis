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themeOverride+xml" PartName="/ppt/theme/themeOverride3.xml"/>
  <Override ContentType="application/vnd.openxmlformats-officedocument.themeOverride+xml" PartName="/ppt/theme/themeOverride2.xml"/>
  <Override ContentType="application/vnd.openxmlformats-officedocument.themeOverride+xml" PartName="/ppt/theme/themeOverride1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Teko"/>
      <p:regular r:id="rId12"/>
      <p:bold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ZB1mbcwZEUoYFhM7/HOCqLUhk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Teko-bold.fntdata"/><Relationship Id="rId12" Type="http://schemas.openxmlformats.org/officeDocument/2006/relationships/font" Target="fonts/Tek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pivotSource>
    <c:name>[VISUALIZATIONS (Recovered).xlsx]Gender Distri. Across Cohorts!PivotTable1</c:name>
    <c:fmtId val="97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7729631003037523E-2"/>
          <c:y val="0.15405082212257101"/>
          <c:w val="0.94558842313379055"/>
          <c:h val="0.776597106975977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'Gender Distri. Across Cohorts'!$P$1:$P$2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'Gender Distri. Across Cohorts'!$O$3:$O$10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'Gender Distri. Across Cohorts'!$P$3:$P$10</c:f>
              <c:numCache>
                <c:formatCode>General</c:formatCode>
                <c:ptCount val="8"/>
                <c:pt idx="0">
                  <c:v>85</c:v>
                </c:pt>
                <c:pt idx="1">
                  <c:v>46</c:v>
                </c:pt>
                <c:pt idx="2">
                  <c:v>55</c:v>
                </c:pt>
                <c:pt idx="3">
                  <c:v>64</c:v>
                </c:pt>
                <c:pt idx="4">
                  <c:v>115</c:v>
                </c:pt>
                <c:pt idx="5">
                  <c:v>119</c:v>
                </c:pt>
                <c:pt idx="6">
                  <c:v>81</c:v>
                </c:pt>
                <c:pt idx="7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0-47BB-8A3D-8BA2D926A83A}"/>
            </c:ext>
          </c:extLst>
        </c:ser>
        <c:ser>
          <c:idx val="1"/>
          <c:order val="1"/>
          <c:tx>
            <c:strRef>
              <c:f>'Gender Distri. Across Cohorts'!$Q$1:$Q$2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'Gender Distri. Across Cohorts'!$O$3:$O$10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'Gender Distri. Across Cohorts'!$Q$3:$Q$10</c:f>
              <c:numCache>
                <c:formatCode>General</c:formatCode>
                <c:ptCount val="8"/>
                <c:pt idx="0">
                  <c:v>13</c:v>
                </c:pt>
                <c:pt idx="1">
                  <c:v>9</c:v>
                </c:pt>
                <c:pt idx="2">
                  <c:v>16</c:v>
                </c:pt>
                <c:pt idx="3">
                  <c:v>19</c:v>
                </c:pt>
                <c:pt idx="4">
                  <c:v>22</c:v>
                </c:pt>
                <c:pt idx="5">
                  <c:v>22</c:v>
                </c:pt>
                <c:pt idx="6">
                  <c:v>14</c:v>
                </c:pt>
                <c:pt idx="7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0-47BB-8A3D-8BA2D926A8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51737504"/>
        <c:axId val="98522320"/>
      </c:barChart>
      <c:catAx>
        <c:axId val="251737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522320"/>
        <c:crosses val="autoZero"/>
        <c:auto val="1"/>
        <c:lblAlgn val="ctr"/>
        <c:lblOffset val="100"/>
        <c:noMultiLvlLbl val="0"/>
      </c:catAx>
      <c:valAx>
        <c:axId val="98522320"/>
        <c:scaling>
          <c:orientation val="minMax"/>
          <c:max val="120"/>
        </c:scaling>
        <c:delete val="1"/>
        <c:axPos val="l"/>
        <c:numFmt formatCode="General" sourceLinked="1"/>
        <c:majorTickMark val="out"/>
        <c:minorTickMark val="none"/>
        <c:tickLblPos val="nextTo"/>
        <c:crossAx val="251737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5888986098959857E-2"/>
          <c:y val="0.12122154340236951"/>
          <c:w val="0.27475287811245819"/>
          <c:h val="0.138703238680680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2"/>
    </a:solidFill>
    <a:ln w="9525" cap="flat" cmpd="sng" algn="ctr">
      <a:solidFill>
        <a:schemeClr val="bg2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pivotSource>
    <c:name>[VISUALIZATIONS (Recovered).xlsx]Country Distri. Across Cohorts!PivotTable2</c:name>
    <c:fmtId val="14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2744153249500526E-2"/>
          <c:y val="0.15092095532257366"/>
          <c:w val="0.75113440670662435"/>
          <c:h val="0.7599509867896346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'Country Distri. Across Cohorts'!$AI$1:$AI$2</c:f>
              <c:strCache>
                <c:ptCount val="1"/>
                <c:pt idx="0">
                  <c:v>Australia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38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38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3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Cohorts'!$AI$3:$AI$10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87-446A-96DD-C56A9D60E3C3}"/>
            </c:ext>
          </c:extLst>
        </c:ser>
        <c:ser>
          <c:idx val="1"/>
          <c:order val="1"/>
          <c:tx>
            <c:strRef>
              <c:f>'Country Distri. Across Cohorts'!$AJ$1:$AJ$2</c:f>
              <c:strCache>
                <c:ptCount val="1"/>
                <c:pt idx="0">
                  <c:v>Botswana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45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45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4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Cohorts'!$AJ$3:$AJ$10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87-446A-96DD-C56A9D60E3C3}"/>
            </c:ext>
          </c:extLst>
        </c:ser>
        <c:ser>
          <c:idx val="2"/>
          <c:order val="2"/>
          <c:tx>
            <c:strRef>
              <c:f>'Country Distri. Across Cohorts'!$AK$1:$AK$2</c:f>
              <c:strCache>
                <c:ptCount val="1"/>
                <c:pt idx="0">
                  <c:v>Cameroon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53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53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53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Cohorts'!$AK$3:$AK$10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87-446A-96DD-C56A9D60E3C3}"/>
            </c:ext>
          </c:extLst>
        </c:ser>
        <c:ser>
          <c:idx val="3"/>
          <c:order val="3"/>
          <c:tx>
            <c:strRef>
              <c:f>'Country Distri. Across Cohorts'!$AL$1:$AL$2</c:f>
              <c:strCache>
                <c:ptCount val="1"/>
                <c:pt idx="0">
                  <c:v>Canada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Cohorts'!$AL$3:$AL$10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87-446A-96DD-C56A9D60E3C3}"/>
            </c:ext>
          </c:extLst>
        </c:ser>
        <c:ser>
          <c:idx val="4"/>
          <c:order val="4"/>
          <c:tx>
            <c:strRef>
              <c:f>'Country Distri. Across Cohorts'!$AM$1:$AM$2</c:f>
              <c:strCache>
                <c:ptCount val="1"/>
                <c:pt idx="0">
                  <c:v>Egypt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67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67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6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Cohorts'!$AM$3:$AM$10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E87-446A-96DD-C56A9D60E3C3}"/>
            </c:ext>
          </c:extLst>
        </c:ser>
        <c:ser>
          <c:idx val="5"/>
          <c:order val="5"/>
          <c:tx>
            <c:strRef>
              <c:f>'Country Distri. Across Cohorts'!$AN$1:$AN$2</c:f>
              <c:strCache>
                <c:ptCount val="1"/>
                <c:pt idx="0">
                  <c:v>Germany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75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75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7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Cohorts'!$AN$3:$AN$10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87-446A-96DD-C56A9D60E3C3}"/>
            </c:ext>
          </c:extLst>
        </c:ser>
        <c:ser>
          <c:idx val="6"/>
          <c:order val="6"/>
          <c:tx>
            <c:strRef>
              <c:f>'Country Distri. Across Cohorts'!$AO$1:$AO$2</c:f>
              <c:strCache>
                <c:ptCount val="1"/>
                <c:pt idx="0">
                  <c:v>Ghana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82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82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82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Cohorts'!$AO$3:$AO$10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5</c:v>
                </c:pt>
                <c:pt idx="4">
                  <c:v>6</c:v>
                </c:pt>
                <c:pt idx="5">
                  <c:v>5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87-446A-96DD-C56A9D60E3C3}"/>
            </c:ext>
          </c:extLst>
        </c:ser>
        <c:ser>
          <c:idx val="7"/>
          <c:order val="7"/>
          <c:tx>
            <c:strRef>
              <c:f>'Country Distri. Across Cohorts'!$AP$1:$AP$2</c:f>
              <c:strCache>
                <c:ptCount val="1"/>
                <c:pt idx="0">
                  <c:v>Italy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89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89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89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Cohorts'!$AP$3:$AP$10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E87-446A-96DD-C56A9D60E3C3}"/>
            </c:ext>
          </c:extLst>
        </c:ser>
        <c:ser>
          <c:idx val="8"/>
          <c:order val="8"/>
          <c:tx>
            <c:strRef>
              <c:f>'Country Distri. Across Cohorts'!$AQ$1:$AQ$2</c:f>
              <c:strCache>
                <c:ptCount val="1"/>
                <c:pt idx="0">
                  <c:v>Kenya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97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97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9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Cohorts'!$AQ$3:$AQ$10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87-446A-96DD-C56A9D60E3C3}"/>
            </c:ext>
          </c:extLst>
        </c:ser>
        <c:ser>
          <c:idx val="9"/>
          <c:order val="9"/>
          <c:tx>
            <c:strRef>
              <c:f>'Country Distri. Across Cohorts'!$AR$1:$AR$2</c:f>
              <c:strCache>
                <c:ptCount val="1"/>
                <c:pt idx="0">
                  <c:v>Mauritius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96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96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9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Cohorts'!$AR$3:$AR$10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E87-446A-96DD-C56A9D60E3C3}"/>
            </c:ext>
          </c:extLst>
        </c:ser>
        <c:ser>
          <c:idx val="10"/>
          <c:order val="10"/>
          <c:tx>
            <c:strRef>
              <c:f>'Country Distri. Across Cohorts'!$AS$1:$AS$2</c:f>
              <c:strCache>
                <c:ptCount val="1"/>
                <c:pt idx="0">
                  <c:v>Nigeria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Cohorts'!$AS$3:$AS$10</c:f>
              <c:numCache>
                <c:formatCode>General</c:formatCode>
                <c:ptCount val="8"/>
                <c:pt idx="0">
                  <c:v>94</c:v>
                </c:pt>
                <c:pt idx="1">
                  <c:v>53</c:v>
                </c:pt>
                <c:pt idx="2">
                  <c:v>69</c:v>
                </c:pt>
                <c:pt idx="3">
                  <c:v>75</c:v>
                </c:pt>
                <c:pt idx="4">
                  <c:v>122</c:v>
                </c:pt>
                <c:pt idx="5">
                  <c:v>133</c:v>
                </c:pt>
                <c:pt idx="6">
                  <c:v>89</c:v>
                </c:pt>
                <c:pt idx="7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E87-446A-96DD-C56A9D60E3C3}"/>
            </c:ext>
          </c:extLst>
        </c:ser>
        <c:ser>
          <c:idx val="11"/>
          <c:order val="11"/>
          <c:tx>
            <c:strRef>
              <c:f>'Country Distri. Across Cohorts'!$AT$1:$AT$2</c:f>
              <c:strCache>
                <c:ptCount val="1"/>
                <c:pt idx="0">
                  <c:v>South Africa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81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81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81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Cohorts'!$AT$3:$AT$10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E87-446A-96DD-C56A9D60E3C3}"/>
            </c:ext>
          </c:extLst>
        </c:ser>
        <c:ser>
          <c:idx val="12"/>
          <c:order val="12"/>
          <c:tx>
            <c:strRef>
              <c:f>'Country Distri. Across Cohorts'!$AU$1:$AU$2</c:f>
              <c:strCache>
                <c:ptCount val="1"/>
                <c:pt idx="0">
                  <c:v>Tanzania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74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74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74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Cohorts'!$AU$3:$AU$10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E87-446A-96DD-C56A9D60E3C3}"/>
            </c:ext>
          </c:extLst>
        </c:ser>
        <c:ser>
          <c:idx val="13"/>
          <c:order val="13"/>
          <c:tx>
            <c:strRef>
              <c:f>'Country Distri. Across Cohorts'!$AV$1:$AV$2</c:f>
              <c:strCache>
                <c:ptCount val="1"/>
                <c:pt idx="0">
                  <c:v>Togo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66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66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6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Cohorts'!$AV$3:$AV$10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E87-446A-96DD-C56A9D60E3C3}"/>
            </c:ext>
          </c:extLst>
        </c:ser>
        <c:ser>
          <c:idx val="14"/>
          <c:order val="14"/>
          <c:tx>
            <c:strRef>
              <c:f>'Country Distri. Across Cohorts'!$AW$1:$AW$2</c:f>
              <c:strCache>
                <c:ptCount val="1"/>
                <c:pt idx="0">
                  <c:v>UAE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59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59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59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Cohorts'!$AW$3:$AW$10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E87-446A-96DD-C56A9D60E3C3}"/>
            </c:ext>
          </c:extLst>
        </c:ser>
        <c:ser>
          <c:idx val="15"/>
          <c:order val="15"/>
          <c:tx>
            <c:strRef>
              <c:f>'Country Distri. Across Cohorts'!$AX$1:$AX$2</c:f>
              <c:strCache>
                <c:ptCount val="1"/>
                <c:pt idx="0">
                  <c:v>Uganda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52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52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52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Cohorts'!$AX$3:$AX$10</c:f>
              <c:numCache>
                <c:formatCode>General</c:formatCode>
                <c:ptCount val="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E87-446A-96DD-C56A9D60E3C3}"/>
            </c:ext>
          </c:extLst>
        </c:ser>
        <c:ser>
          <c:idx val="16"/>
          <c:order val="16"/>
          <c:tx>
            <c:strRef>
              <c:f>'Country Distri. Across Cohorts'!$AY$1:$AY$2</c:f>
              <c:strCache>
                <c:ptCount val="1"/>
                <c:pt idx="0">
                  <c:v>United Kingdom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44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44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44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Cohorts'!$AY$3:$AY$10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E87-446A-96DD-C56A9D60E3C3}"/>
            </c:ext>
          </c:extLst>
        </c:ser>
        <c:ser>
          <c:idx val="17"/>
          <c:order val="17"/>
          <c:tx>
            <c:strRef>
              <c:f>'Country Distri. Across Cohorts'!$AZ$1:$AZ$2</c:f>
              <c:strCache>
                <c:ptCount val="1"/>
                <c:pt idx="0">
                  <c:v>Zimbabwe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37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37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3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'Country Distri. Across Cohorts'!$AH$3:$AH$10</c:f>
              <c:strCache>
                <c:ptCount val="8"/>
                <c:pt idx="0">
                  <c:v> C12</c:v>
                </c:pt>
                <c:pt idx="1">
                  <c:v> C13</c:v>
                </c:pt>
                <c:pt idx="2">
                  <c:v> C14</c:v>
                </c:pt>
                <c:pt idx="3">
                  <c:v> C15</c:v>
                </c:pt>
                <c:pt idx="4">
                  <c:v> C16</c:v>
                </c:pt>
                <c:pt idx="5">
                  <c:v> C17</c:v>
                </c:pt>
                <c:pt idx="6">
                  <c:v> C18</c:v>
                </c:pt>
                <c:pt idx="7">
                  <c:v> C19</c:v>
                </c:pt>
              </c:strCache>
            </c:strRef>
          </c:cat>
          <c:val>
            <c:numRef>
              <c:f>'Country Distri. Across Cohorts'!$AZ$3:$AZ$10</c:f>
              <c:numCache>
                <c:formatCode>General</c:formatCode>
                <c:ptCount val="8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5E87-446A-96DD-C56A9D60E3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97185808"/>
        <c:axId val="391220128"/>
      </c:barChart>
      <c:catAx>
        <c:axId val="397185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220128"/>
        <c:crosses val="autoZero"/>
        <c:auto val="1"/>
        <c:lblAlgn val="ctr"/>
        <c:lblOffset val="100"/>
        <c:noMultiLvlLbl val="0"/>
      </c:catAx>
      <c:valAx>
        <c:axId val="391220128"/>
        <c:scaling>
          <c:orientation val="minMax"/>
          <c:max val="14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718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10"/>
        <c:txPr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2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5464719204326196E-2"/>
          <c:y val="0.16086123849903378"/>
          <c:w val="0.9073358667440562"/>
          <c:h val="0.769400461305973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'Knowl. Level Across Cohorts'!$A$2</c:f>
              <c:strCache>
                <c:ptCount val="1"/>
                <c:pt idx="0">
                  <c:v>Beginner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'Knowl. Level Across Cohorts'!$B$1:$K$1</c:f>
              <c:strCache>
                <c:ptCount val="8"/>
                <c:pt idx="0">
                  <c:v>Cohort 12</c:v>
                </c:pt>
                <c:pt idx="1">
                  <c:v>Cohort 13</c:v>
                </c:pt>
                <c:pt idx="2">
                  <c:v>Cohort 14</c:v>
                </c:pt>
                <c:pt idx="3">
                  <c:v>Cohort 15</c:v>
                </c:pt>
                <c:pt idx="4">
                  <c:v>Cohort 16</c:v>
                </c:pt>
                <c:pt idx="5">
                  <c:v>Cohort 17</c:v>
                </c:pt>
                <c:pt idx="6">
                  <c:v>Cohort 18</c:v>
                </c:pt>
                <c:pt idx="7">
                  <c:v>Cohort 19</c:v>
                </c:pt>
              </c:strCache>
            </c:strRef>
          </c:cat>
          <c:val>
            <c:numRef>
              <c:f>'Knowl. Level Across Cohorts'!$B$2:$K$2</c:f>
              <c:numCache>
                <c:formatCode>General</c:formatCode>
                <c:ptCount val="8"/>
                <c:pt idx="0">
                  <c:v>34</c:v>
                </c:pt>
                <c:pt idx="1">
                  <c:v>17</c:v>
                </c:pt>
                <c:pt idx="2">
                  <c:v>40</c:v>
                </c:pt>
                <c:pt idx="3">
                  <c:v>27</c:v>
                </c:pt>
                <c:pt idx="4">
                  <c:v>60</c:v>
                </c:pt>
                <c:pt idx="5">
                  <c:v>66</c:v>
                </c:pt>
                <c:pt idx="6">
                  <c:v>49</c:v>
                </c:pt>
                <c:pt idx="7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FF-4131-91F8-A948D34D36C1}"/>
            </c:ext>
          </c:extLst>
        </c:ser>
        <c:ser>
          <c:idx val="1"/>
          <c:order val="1"/>
          <c:tx>
            <c:strRef>
              <c:f>'Knowl. Level Across Cohorts'!$A$3</c:f>
              <c:strCache>
                <c:ptCount val="1"/>
                <c:pt idx="0">
                  <c:v>Intermediate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'Knowl. Level Across Cohorts'!$B$1:$K$1</c:f>
              <c:strCache>
                <c:ptCount val="8"/>
                <c:pt idx="0">
                  <c:v>Cohort 12</c:v>
                </c:pt>
                <c:pt idx="1">
                  <c:v>Cohort 13</c:v>
                </c:pt>
                <c:pt idx="2">
                  <c:v>Cohort 14</c:v>
                </c:pt>
                <c:pt idx="3">
                  <c:v>Cohort 15</c:v>
                </c:pt>
                <c:pt idx="4">
                  <c:v>Cohort 16</c:v>
                </c:pt>
                <c:pt idx="5">
                  <c:v>Cohort 17</c:v>
                </c:pt>
                <c:pt idx="6">
                  <c:v>Cohort 18</c:v>
                </c:pt>
                <c:pt idx="7">
                  <c:v>Cohort 19</c:v>
                </c:pt>
              </c:strCache>
            </c:strRef>
          </c:cat>
          <c:val>
            <c:numRef>
              <c:f>'Knowl. Level Across Cohorts'!$B$3:$K$3</c:f>
              <c:numCache>
                <c:formatCode>General</c:formatCode>
                <c:ptCount val="8"/>
                <c:pt idx="0">
                  <c:v>60</c:v>
                </c:pt>
                <c:pt idx="1">
                  <c:v>34</c:v>
                </c:pt>
                <c:pt idx="2">
                  <c:v>29</c:v>
                </c:pt>
                <c:pt idx="3">
                  <c:v>46</c:v>
                </c:pt>
                <c:pt idx="4">
                  <c:v>65</c:v>
                </c:pt>
                <c:pt idx="5">
                  <c:v>67</c:v>
                </c:pt>
                <c:pt idx="6">
                  <c:v>40</c:v>
                </c:pt>
                <c:pt idx="7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FF-4131-91F8-A948D34D36C1}"/>
            </c:ext>
          </c:extLst>
        </c:ser>
        <c:ser>
          <c:idx val="2"/>
          <c:order val="2"/>
          <c:tx>
            <c:strRef>
              <c:f>'Knowl. Level Across Cohorts'!$A$4</c:f>
              <c:strCache>
                <c:ptCount val="1"/>
                <c:pt idx="0">
                  <c:v>Advance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'Knowl. Level Across Cohorts'!$B$1:$K$1</c:f>
              <c:strCache>
                <c:ptCount val="8"/>
                <c:pt idx="0">
                  <c:v>Cohort 12</c:v>
                </c:pt>
                <c:pt idx="1">
                  <c:v>Cohort 13</c:v>
                </c:pt>
                <c:pt idx="2">
                  <c:v>Cohort 14</c:v>
                </c:pt>
                <c:pt idx="3">
                  <c:v>Cohort 15</c:v>
                </c:pt>
                <c:pt idx="4">
                  <c:v>Cohort 16</c:v>
                </c:pt>
                <c:pt idx="5">
                  <c:v>Cohort 17</c:v>
                </c:pt>
                <c:pt idx="6">
                  <c:v>Cohort 18</c:v>
                </c:pt>
                <c:pt idx="7">
                  <c:v>Cohort 19</c:v>
                </c:pt>
              </c:strCache>
            </c:strRef>
          </c:cat>
          <c:val>
            <c:numRef>
              <c:f>'Knowl. Level Across Cohorts'!$B$4:$K$4</c:f>
              <c:numCache>
                <c:formatCode>General</c:formatCode>
                <c:ptCount val="8"/>
                <c:pt idx="0">
                  <c:v>4</c:v>
                </c:pt>
                <c:pt idx="1">
                  <c:v>2</c:v>
                </c:pt>
                <c:pt idx="3">
                  <c:v>9</c:v>
                </c:pt>
                <c:pt idx="4">
                  <c:v>10</c:v>
                </c:pt>
                <c:pt idx="5">
                  <c:v>7</c:v>
                </c:pt>
                <c:pt idx="6">
                  <c:v>7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FF-4131-91F8-A948D34D36C1}"/>
            </c:ext>
          </c:extLst>
        </c:ser>
        <c:ser>
          <c:idx val="3"/>
          <c:order val="3"/>
          <c:tx>
            <c:strRef>
              <c:f>'Knowl. Level Across Cohorts'!$A$5</c:f>
              <c:strCache>
                <c:ptCount val="1"/>
                <c:pt idx="0">
                  <c:v>Expert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'Knowl. Level Across Cohorts'!$B$1:$K$1</c:f>
              <c:strCache>
                <c:ptCount val="8"/>
                <c:pt idx="0">
                  <c:v>Cohort 12</c:v>
                </c:pt>
                <c:pt idx="1">
                  <c:v>Cohort 13</c:v>
                </c:pt>
                <c:pt idx="2">
                  <c:v>Cohort 14</c:v>
                </c:pt>
                <c:pt idx="3">
                  <c:v>Cohort 15</c:v>
                </c:pt>
                <c:pt idx="4">
                  <c:v>Cohort 16</c:v>
                </c:pt>
                <c:pt idx="5">
                  <c:v>Cohort 17</c:v>
                </c:pt>
                <c:pt idx="6">
                  <c:v>Cohort 18</c:v>
                </c:pt>
                <c:pt idx="7">
                  <c:v>Cohort 19</c:v>
                </c:pt>
              </c:strCache>
            </c:strRef>
          </c:cat>
          <c:val>
            <c:numRef>
              <c:f>'Knowl. Level Across Cohorts'!$B$5:$K$5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AFF-4131-91F8-A948D34D36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79505792"/>
        <c:axId val="1979502432"/>
      </c:barChart>
      <c:catAx>
        <c:axId val="1979505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502432"/>
        <c:crosses val="autoZero"/>
        <c:auto val="1"/>
        <c:lblAlgn val="ctr"/>
        <c:lblOffset val="100"/>
        <c:noMultiLvlLbl val="0"/>
      </c:catAx>
      <c:valAx>
        <c:axId val="1979502432"/>
        <c:scaling>
          <c:orientation val="minMax"/>
          <c:max val="70"/>
        </c:scaling>
        <c:delete val="1"/>
        <c:axPos val="l"/>
        <c:numFmt formatCode="General" sourceLinked="1"/>
        <c:majorTickMark val="out"/>
        <c:minorTickMark val="none"/>
        <c:tickLblPos val="nextTo"/>
        <c:crossAx val="1979505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4553111416252995"/>
          <c:y val="3.7087479449684171E-2"/>
          <c:w val="0.35215376724122355"/>
          <c:h val="0.120421678059473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2"/>
    </a:solidFill>
    <a:ln w="9525" cap="flat" cmpd="sng" algn="ctr">
      <a:solidFill>
        <a:schemeClr val="bg2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"/>
          <p:cNvSpPr txBox="1"/>
          <p:nvPr>
            <p:ph type="ctrTitle"/>
          </p:nvPr>
        </p:nvSpPr>
        <p:spPr>
          <a:xfrm>
            <a:off x="1524000" y="1122363"/>
            <a:ext cx="9144000" cy="2316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b="1" i="0" sz="6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9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b="1" i="0" sz="6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10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" name="Google Shape;36;p1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1" name="Google Shape;41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3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1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7" name="Google Shape;57;p15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b="0"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" name="Google Shape;65;p1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b="0"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8" name="Google Shape;68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7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0" name="Google Shape;80;p1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b="0" i="0" sz="4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10696580" y="6619875"/>
            <a:ext cx="1390645" cy="22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9"/>
          <p:cNvCxnSpPr/>
          <p:nvPr/>
        </p:nvCxnSpPr>
        <p:spPr>
          <a:xfrm flipH="1" rot="10800000">
            <a:off x="8313" y="261865"/>
            <a:ext cx="11353802" cy="1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0"/>
          </a:scheme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8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  <p:pic>
        <p:nvPicPr>
          <p:cNvPr id="7" name="Google Shape;7;p8"/>
          <p:cNvPicPr preferRelativeResize="0"/>
          <p:nvPr/>
        </p:nvPicPr>
        <p:blipFill rotWithShape="1">
          <a:blip r:embed="rId1">
            <a:alphaModFix/>
          </a:blip>
          <a:srcRect b="0" l="-47572" r="-47572" t="0"/>
          <a:stretch/>
        </p:blipFill>
        <p:spPr>
          <a:xfrm>
            <a:off x="80945" y="95250"/>
            <a:ext cx="1269890" cy="504825"/>
          </a:xfrm>
          <a:prstGeom prst="rect">
            <a:avLst/>
          </a:prstGeom>
          <a:noFill/>
          <a:ln>
            <a:noFill/>
          </a:ln>
          <a:effectLst>
            <a:outerShdw blurRad="1270000" rotWithShape="0" algn="ctr">
              <a:srgbClr val="000000">
                <a:alpha val="0"/>
              </a:srgbClr>
            </a:outerShdw>
            <a:reflection blurRad="0" dir="5400000" dist="50800" endA="0" endPos="65000" kx="0" rotWithShape="0" algn="bl" stA="0" stPos="0" sy="-100000" ky="0"/>
          </a:effectLst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001507" y="-49639"/>
            <a:ext cx="6042053" cy="622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eko"/>
              <a:buNone/>
            </a:pPr>
            <a:r>
              <a:rPr lang="en-US" sz="2800" u="sng">
                <a:latin typeface="Teko"/>
                <a:ea typeface="Teko"/>
                <a:cs typeface="Teko"/>
                <a:sym typeface="Teko"/>
              </a:rPr>
              <a:t>AFRIMENT DATA ANALYTICS INTERNSHIP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674336" y="1051965"/>
            <a:ext cx="9154789" cy="994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POD B - </a:t>
            </a:r>
            <a:r>
              <a:rPr b="1" lang="en-US" sz="2800">
                <a:latin typeface="Open Sans"/>
                <a:ea typeface="Open Sans"/>
                <a:cs typeface="Open Sans"/>
                <a:sym typeface="Open Sans"/>
              </a:rPr>
              <a:t>LEARNER INSIGHTS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Open Sans"/>
                <a:ea typeface="Open Sans"/>
                <a:cs typeface="Open Sans"/>
                <a:sym typeface="Open Sans"/>
              </a:rPr>
              <a:t>Week 1 – Data Cleaning and Introductory Analysis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7481" y="622497"/>
            <a:ext cx="5894519" cy="597389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0438726" y="6596390"/>
            <a:ext cx="19663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PREPARED BY POD B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88193" y="2659311"/>
            <a:ext cx="4915384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Male/Female Ratio across Cohorts.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Countries.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 Distribution.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731182" y="998290"/>
            <a:ext cx="3815651" cy="6207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4000"/>
              <a:t>ANALYSIS</a:t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355" y="914401"/>
            <a:ext cx="5908646" cy="57530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0438726" y="6596390"/>
            <a:ext cx="19663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PREPARED BY POD B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731182" y="1820411"/>
            <a:ext cx="5275335" cy="498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 Cohorts Consisting of Waitlist and Onboarding Files were Cleaned, Merged and Analyzed using the following tools: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Cleaning(Excel)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Pod B and Pod A collaborated to clean the data to avoid Duplicates.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Functions like TRIM were used to remove extra spaces, The Casings were standardized to ensure uniformity in each column.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Analysis(SQL, Excel)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SQL was used to write queries to merge the Waitlist and Onboarding Files of each Cohort to target Required Columns.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Visualization(Excel)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Pivot Charts were used to visualize the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Limitation/Concern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Learners before Merging VS Learners after Merging.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0438726" y="6596390"/>
            <a:ext cx="19663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PREPARED BY POD B</a:t>
            </a:r>
            <a:endParaRPr/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663575" y="1244600"/>
            <a:ext cx="4889442" cy="1400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US" sz="3600" cap="none"/>
              <a:t>What Is The Male/Female Ratio Across Cohorts?</a:t>
            </a:r>
            <a:endParaRPr/>
          </a:p>
        </p:txBody>
      </p:sp>
      <p:graphicFrame>
        <p:nvGraphicFramePr>
          <p:cNvPr id="111" name="Google Shape;111;p3"/>
          <p:cNvGraphicFramePr/>
          <p:nvPr/>
        </p:nvGraphicFramePr>
        <p:xfrm>
          <a:off x="6431383" y="2558643"/>
          <a:ext cx="5747917" cy="403774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2" name="Google Shape;112;p3"/>
          <p:cNvSpPr/>
          <p:nvPr/>
        </p:nvSpPr>
        <p:spPr>
          <a:xfrm>
            <a:off x="6570545" y="446694"/>
            <a:ext cx="527420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GENDER DISTRIBUTION ACCROSS COHORTS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431383" y="1326993"/>
            <a:ext cx="1752310" cy="98636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791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8546400" y="1326992"/>
            <a:ext cx="1641446" cy="98488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83%</a:t>
            </a: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females 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0550554" y="1326992"/>
            <a:ext cx="1641446" cy="98488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17%</a:t>
            </a: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males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855676" y="2969412"/>
            <a:ext cx="469734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Female Learners 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had the highest Ratio Across Cohorts with a ratio of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83%.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Cohort 17 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had the highest number of Female Learners overall.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10438726" y="6596390"/>
            <a:ext cx="19663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PREPARED BY POD B</a:t>
            </a:r>
            <a:endParaRPr/>
          </a:p>
        </p:txBody>
      </p:sp>
      <p:sp>
        <p:nvSpPr>
          <p:cNvPr id="122" name="Google Shape;122;p4"/>
          <p:cNvSpPr txBox="1"/>
          <p:nvPr>
            <p:ph type="title"/>
          </p:nvPr>
        </p:nvSpPr>
        <p:spPr>
          <a:xfrm>
            <a:off x="671964" y="732872"/>
            <a:ext cx="4889442" cy="1400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US" sz="3600" cap="none"/>
              <a:t>Which Countries Appear Most?</a:t>
            </a:r>
            <a:endParaRPr/>
          </a:p>
        </p:txBody>
      </p:sp>
      <p:graphicFrame>
        <p:nvGraphicFramePr>
          <p:cNvPr id="123" name="Google Shape;123;p4"/>
          <p:cNvGraphicFramePr/>
          <p:nvPr/>
        </p:nvGraphicFramePr>
        <p:xfrm>
          <a:off x="5582873" y="2499920"/>
          <a:ext cx="6609127" cy="407862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4" name="Google Shape;124;p4"/>
          <p:cNvSpPr/>
          <p:nvPr/>
        </p:nvSpPr>
        <p:spPr>
          <a:xfrm>
            <a:off x="5582873" y="1379781"/>
            <a:ext cx="1786855" cy="98488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791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575318" y="1610614"/>
            <a:ext cx="1455758" cy="5232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Nigeria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93%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211900" y="1610613"/>
            <a:ext cx="1365948" cy="5232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Ghana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3%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0655476" y="1610614"/>
            <a:ext cx="1365948" cy="5232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Kenya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1%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423401" y="502039"/>
            <a:ext cx="47740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Country Distribution Across Cohorts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855677" y="2659310"/>
            <a:ext cx="434549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Nigeria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had the highest number of Learners with a Ratio of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93%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followed by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Ghana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Kenya.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Cohort 17 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had the highest number of Learners from Nigeria.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10438726" y="6596390"/>
            <a:ext cx="19663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PREPARED BY POD B</a:t>
            </a:r>
            <a:endParaRPr/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693431" y="1193200"/>
            <a:ext cx="4889442" cy="1400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US" sz="3600" cap="none"/>
              <a:t>What Knowledge Levels Are Most Common?</a:t>
            </a:r>
            <a:endParaRPr/>
          </a:p>
        </p:txBody>
      </p:sp>
      <p:graphicFrame>
        <p:nvGraphicFramePr>
          <p:cNvPr id="136" name="Google Shape;136;p5"/>
          <p:cNvGraphicFramePr/>
          <p:nvPr/>
        </p:nvGraphicFramePr>
        <p:xfrm>
          <a:off x="4932727" y="2313811"/>
          <a:ext cx="7259274" cy="428102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7" name="Google Shape;137;p5"/>
          <p:cNvSpPr/>
          <p:nvPr/>
        </p:nvSpPr>
        <p:spPr>
          <a:xfrm>
            <a:off x="4932727" y="1167984"/>
            <a:ext cx="1406557" cy="98488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791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Learners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533473" y="1167983"/>
            <a:ext cx="1406557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43% </a:t>
            </a:r>
            <a:endParaRPr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Beginner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079298" y="1167983"/>
            <a:ext cx="1560352" cy="98488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49% </a:t>
            </a:r>
            <a:endParaRPr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Intermediate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686489" y="1166431"/>
            <a:ext cx="1270871" cy="983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6% </a:t>
            </a:r>
            <a:endParaRPr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Advance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831080" y="1167982"/>
            <a:ext cx="1270871" cy="98488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1%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Expert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516721" y="347143"/>
            <a:ext cx="44406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Knowledge Level Across Cohorts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693431" y="3112316"/>
            <a:ext cx="414701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Intermediate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Learners were Common Across Cohorts with a ranking at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49%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followed by Beginners with a ratio of </a:t>
            </a: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43%.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Cohort 17 </a:t>
            </a: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had the highest number of Intermediate learners overall.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10438726" y="6596390"/>
            <a:ext cx="19663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PREPARED BY POD B</a:t>
            </a:r>
            <a:endParaRPr/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760542" y="1132513"/>
            <a:ext cx="5335457" cy="62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</a:pPr>
            <a:r>
              <a:rPr lang="en-US" sz="4800" cap="none"/>
              <a:t>What’s Next?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1140903" y="1864319"/>
            <a:ext cx="10503016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Deep Demographic Analysis Into all Cohorts to Analyze Trends in Gender ratio, Countries and Knowledge Level, as well as Program Interest and Source Channel Analysis.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/>
        </p:nvSpPr>
        <p:spPr>
          <a:xfrm>
            <a:off x="10438726" y="6596390"/>
            <a:ext cx="19663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PREPARED BY POD B</a:t>
            </a:r>
            <a:endParaRPr/>
          </a:p>
        </p:txBody>
      </p:sp>
      <p:sp>
        <p:nvSpPr>
          <p:cNvPr id="156" name="Google Shape;156;p7"/>
          <p:cNvSpPr txBox="1"/>
          <p:nvPr>
            <p:ph type="title"/>
          </p:nvPr>
        </p:nvSpPr>
        <p:spPr>
          <a:xfrm>
            <a:off x="760542" y="1291904"/>
            <a:ext cx="5335457" cy="62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</a:pPr>
            <a:r>
              <a:rPr lang="en-US" sz="4800" cap="none"/>
              <a:t>Thank You!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760542" y="5278638"/>
            <a:ext cx="9194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Questions and Feedback.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ientVTI">
  <a:themeElements>
    <a:clrScheme name="Gradient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2026-07-11T17:04:52Z</dcterms:created>
  <dc:creator>Righteousness Okpara</dc:creator>
</cp:coreProperties>
</file>